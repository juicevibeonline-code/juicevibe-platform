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Open Sans" panose="020B0606030504020204" pitchFamily="34" charset="0"/>
      <p:regular r:id="rId13"/>
    </p:embeddedFont>
    <p:embeddedFont>
      <p:font typeface="Open Sans Bold" panose="020B0806030504020204" charset="0"/>
      <p:regular r:id="rId14"/>
    </p:embeddedFont>
    <p:embeddedFont>
      <p:font typeface="Unbounded 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8" d="100"/>
          <a:sy n="158" d="100"/>
        </p:scale>
        <p:origin x="26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1710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F5EE"/>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FFFFF">
              <a:alpha val="85000"/>
            </a:srgbClr>
          </a:solidFill>
          <a:ln/>
        </p:spPr>
      </p:sp>
      <p:pic>
        <p:nvPicPr>
          <p:cNvPr id="6"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F5EE"/>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0023" y="1124620"/>
            <a:ext cx="8063954" cy="482203"/>
          </a:xfrm>
          <a:prstGeom prst="rect">
            <a:avLst/>
          </a:prstGeom>
          <a:noFill/>
          <a:ln/>
        </p:spPr>
        <p:txBody>
          <a:bodyPr wrap="none" lIns="0" tIns="0" rIns="0" bIns="0" rtlCol="0" anchor="t"/>
          <a:lstStyle/>
          <a:p>
            <a:pPr marL="0" indent="0" algn="l">
              <a:lnSpc>
                <a:spcPct val="104000"/>
              </a:lnSpc>
              <a:buNone/>
            </a:pPr>
            <a:r>
              <a:rPr lang="en-US" sz="3000" b="1" dirty="0">
                <a:solidFill>
                  <a:srgbClr val="333F70"/>
                </a:solidFill>
                <a:latin typeface="Unbounded Bold" pitchFamily="34" charset="0"/>
                <a:ea typeface="Unbounded Bold" pitchFamily="34" charset="-122"/>
                <a:cs typeface="Unbounded Bold" pitchFamily="34" charset="-120"/>
              </a:rPr>
              <a:t>Juice Vibe Waskaduwa</a:t>
            </a:r>
            <a:endParaRPr lang="en-US" sz="3000" dirty="0"/>
          </a:p>
        </p:txBody>
      </p:sp>
      <p:sp>
        <p:nvSpPr>
          <p:cNvPr id="3" name="Shape 1"/>
          <p:cNvSpPr/>
          <p:nvPr/>
        </p:nvSpPr>
        <p:spPr>
          <a:xfrm>
            <a:off x="540023" y="1838251"/>
            <a:ext cx="2233910" cy="234479"/>
          </a:xfrm>
          <a:prstGeom prst="roundRect">
            <a:avLst>
              <a:gd name="adj" fmla="val 22111"/>
            </a:avLst>
          </a:prstGeom>
          <a:solidFill>
            <a:srgbClr val="D6F5EE"/>
          </a:solidFill>
          <a:ln/>
        </p:spPr>
      </p:sp>
      <p:sp>
        <p:nvSpPr>
          <p:cNvPr id="4" name="Text 2"/>
          <p:cNvSpPr/>
          <p:nvPr/>
        </p:nvSpPr>
        <p:spPr>
          <a:xfrm>
            <a:off x="632594" y="1884536"/>
            <a:ext cx="2505968" cy="141908"/>
          </a:xfrm>
          <a:prstGeom prst="rect">
            <a:avLst/>
          </a:prstGeom>
          <a:noFill/>
          <a:ln/>
        </p:spPr>
        <p:txBody>
          <a:bodyPr wrap="none" lIns="0" tIns="0" rIns="0" bIns="0" rtlCol="0" anchor="t"/>
          <a:lstStyle/>
          <a:p>
            <a:pPr marL="0" indent="0" algn="l">
              <a:lnSpc>
                <a:spcPct val="96000"/>
              </a:lnSpc>
              <a:buNone/>
            </a:pPr>
            <a:r>
              <a:rPr lang="en-US" sz="950" dirty="0">
                <a:solidFill>
                  <a:srgbClr val="333F70"/>
                </a:solidFill>
                <a:latin typeface="Open Sans" pitchFamily="34" charset="0"/>
                <a:ea typeface="Open Sans" pitchFamily="34" charset="-122"/>
                <a:cs typeface="Open Sans" pitchFamily="34" charset="-120"/>
              </a:rPr>
              <a:t>SOFTWARE DEVELOPMENT INVOICE</a:t>
            </a:r>
            <a:endParaRPr lang="en-US" sz="950" dirty="0"/>
          </a:p>
        </p:txBody>
      </p:sp>
      <p:sp>
        <p:nvSpPr>
          <p:cNvPr id="5" name="Text 3"/>
          <p:cNvSpPr/>
          <p:nvPr/>
        </p:nvSpPr>
        <p:spPr>
          <a:xfrm>
            <a:off x="540023" y="2134419"/>
            <a:ext cx="8063954" cy="665411"/>
          </a:xfrm>
          <a:prstGeom prst="rect">
            <a:avLst/>
          </a:prstGeom>
          <a:noFill/>
          <a:ln/>
        </p:spPr>
        <p:txBody>
          <a:bodyPr wrap="none" lIns="0" tIns="0" rIns="0" bIns="0" rtlCol="0" anchor="t"/>
          <a:lstStyle/>
          <a:p>
            <a:pPr marL="0" indent="0" algn="l">
              <a:lnSpc>
                <a:spcPct val="104000"/>
              </a:lnSpc>
              <a:buNone/>
            </a:pPr>
            <a:r>
              <a:rPr lang="en-US" sz="4150" b="1" dirty="0">
                <a:solidFill>
                  <a:srgbClr val="333F70"/>
                </a:solidFill>
                <a:latin typeface="Unbounded Bold" pitchFamily="34" charset="0"/>
                <a:ea typeface="Unbounded Bold" pitchFamily="34" charset="-122"/>
                <a:cs typeface="Unbounded Bold" pitchFamily="34" charset="-120"/>
              </a:rPr>
              <a:t>Invoice #JV-2026-001</a:t>
            </a:r>
            <a:endParaRPr lang="en-US" sz="4150" dirty="0"/>
          </a:p>
        </p:txBody>
      </p:sp>
      <p:sp>
        <p:nvSpPr>
          <p:cNvPr id="6" name="Text 4"/>
          <p:cNvSpPr/>
          <p:nvPr/>
        </p:nvSpPr>
        <p:spPr>
          <a:xfrm>
            <a:off x="540023" y="3031257"/>
            <a:ext cx="8063954" cy="987623"/>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333F70"/>
                </a:solidFill>
                <a:latin typeface="Open Sans" pitchFamily="34" charset="0"/>
                <a:ea typeface="Open Sans" pitchFamily="34" charset="-122"/>
                <a:cs typeface="Open Sans" pitchFamily="34" charset="-120"/>
              </a:rPr>
              <a:t>This invoice covers the complete digital platform development for Juice Vibe Waskaduwa, prepared by Dulanjaya Lakruwan, Full Stack Software Developer. The document outlines the full project scope, a detailed cost breakdown, a two-phase payment schedule, and the deliverables included in this engagement. All terms, warranty provisions, and support options are described in the sections that follow.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0023" y="567482"/>
            <a:ext cx="8063954" cy="399306"/>
          </a:xfrm>
          <a:prstGeom prst="rect">
            <a:avLst/>
          </a:prstGeom>
          <a:noFill/>
          <a:ln/>
        </p:spPr>
        <p:txBody>
          <a:bodyPr wrap="none" lIns="0" tIns="0" rIns="0" bIns="0" rtlCol="0" anchor="t"/>
          <a:lstStyle/>
          <a:p>
            <a:pPr marL="0" indent="0" algn="l">
              <a:lnSpc>
                <a:spcPct val="104000"/>
              </a:lnSpc>
              <a:buNone/>
            </a:pPr>
            <a:r>
              <a:rPr lang="en-US" sz="2500" b="1" dirty="0">
                <a:solidFill>
                  <a:srgbClr val="333F70"/>
                </a:solidFill>
                <a:latin typeface="Unbounded Bold" pitchFamily="34" charset="0"/>
                <a:ea typeface="Unbounded Bold" pitchFamily="34" charset="-122"/>
                <a:cs typeface="Unbounded Bold" pitchFamily="34" charset="-120"/>
              </a:rPr>
              <a:t>Invoice &amp; Party Details</a:t>
            </a:r>
            <a:endParaRPr lang="en-US" sz="2500" dirty="0"/>
          </a:p>
        </p:txBody>
      </p:sp>
      <p:sp>
        <p:nvSpPr>
          <p:cNvPr id="3" name="Text 1"/>
          <p:cNvSpPr/>
          <p:nvPr/>
        </p:nvSpPr>
        <p:spPr>
          <a:xfrm>
            <a:off x="540023" y="1178421"/>
            <a:ext cx="8063954" cy="373707"/>
          </a:xfrm>
          <a:prstGeom prst="rect">
            <a:avLst/>
          </a:prstGeom>
          <a:noFill/>
          <a:ln/>
        </p:spPr>
        <p:txBody>
          <a:bodyPr wrap="square" lIns="0" tIns="0" rIns="0" bIns="0" rtlCol="0" anchor="t">
            <a:normAutofit/>
          </a:bodyPr>
          <a:lstStyle/>
          <a:p>
            <a:pPr marL="0" indent="0" algn="l">
              <a:lnSpc>
                <a:spcPct val="122000"/>
              </a:lnSpc>
              <a:buNone/>
            </a:pPr>
            <a:r>
              <a:rPr lang="en-US" sz="1000" dirty="0">
                <a:solidFill>
                  <a:srgbClr val="333F70"/>
                </a:solidFill>
                <a:latin typeface="Open Sans" pitchFamily="34" charset="0"/>
                <a:ea typeface="Open Sans" pitchFamily="34" charset="-122"/>
                <a:cs typeface="Open Sans" pitchFamily="34" charset="-120"/>
              </a:rPr>
              <a:t>This section provides the essential reference information for this invoice, including the invoice number, relevant dates, and the contact details for both the developer and the client. Please review all information carefully and retain this document for your records.</a:t>
            </a:r>
            <a:endParaRPr lang="en-US" sz="1000" dirty="0"/>
          </a:p>
        </p:txBody>
      </p:sp>
      <p:sp>
        <p:nvSpPr>
          <p:cNvPr id="4" name="Shape 2"/>
          <p:cNvSpPr/>
          <p:nvPr/>
        </p:nvSpPr>
        <p:spPr>
          <a:xfrm>
            <a:off x="448047" y="1671117"/>
            <a:ext cx="4060106" cy="2904902"/>
          </a:xfrm>
          <a:prstGeom prst="roundRect">
            <a:avLst>
              <a:gd name="adj" fmla="val 3167"/>
            </a:avLst>
          </a:prstGeom>
          <a:solidFill>
            <a:srgbClr val="26A688"/>
          </a:solidFill>
          <a:ln/>
        </p:spPr>
      </p:sp>
      <p:sp>
        <p:nvSpPr>
          <p:cNvPr id="5" name="Text 3"/>
          <p:cNvSpPr/>
          <p:nvPr/>
        </p:nvSpPr>
        <p:spPr>
          <a:xfrm>
            <a:off x="575816" y="1776933"/>
            <a:ext cx="3804568" cy="199653"/>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Unbounded Bold" pitchFamily="34" charset="0"/>
                <a:ea typeface="Unbounded Bold" pitchFamily="34" charset="-122"/>
                <a:cs typeface="Unbounded Bold" pitchFamily="34" charset="-120"/>
              </a:rPr>
              <a:t>Issued By</a:t>
            </a:r>
            <a:endParaRPr lang="en-US" sz="1250" dirty="0"/>
          </a:p>
        </p:txBody>
      </p:sp>
      <p:sp>
        <p:nvSpPr>
          <p:cNvPr id="6" name="Text 4"/>
          <p:cNvSpPr/>
          <p:nvPr/>
        </p:nvSpPr>
        <p:spPr>
          <a:xfrm>
            <a:off x="575816" y="2082403"/>
            <a:ext cx="3804568" cy="861640"/>
          </a:xfrm>
          <a:prstGeom prst="rect">
            <a:avLst/>
          </a:prstGeom>
          <a:noFill/>
          <a:ln/>
        </p:spPr>
        <p:txBody>
          <a:bodyPr wrap="square" lIns="0" tIns="0" rIns="0" bIns="0" rtlCol="0" anchor="t">
            <a:normAutofit/>
          </a:bodyPr>
          <a:lstStyle/>
          <a:p>
            <a:pPr marL="0" indent="0" algn="l">
              <a:lnSpc>
                <a:spcPct val="122000"/>
              </a:lnSpc>
              <a:buNone/>
            </a:pPr>
            <a:r>
              <a:rPr lang="en-US" sz="1000" b="1" dirty="0">
                <a:solidFill>
                  <a:srgbClr val="000000"/>
                </a:solidFill>
                <a:latin typeface="Open Sans Bold" pitchFamily="34" charset="0"/>
                <a:ea typeface="Open Sans Bold" pitchFamily="34" charset="-122"/>
                <a:cs typeface="Open Sans Bold" pitchFamily="34" charset="-120"/>
              </a:rPr>
              <a:t>Dulanjaya Lakruwan</a:t>
            </a:r>
            <a:endParaRPr lang="en-US" sz="1000" dirty="0"/>
          </a:p>
          <a:p>
            <a:pPr marL="0" indent="0" algn="l">
              <a:lnSpc>
                <a:spcPct val="122000"/>
              </a:lnSpc>
              <a:spcAft>
                <a:spcPts val="700"/>
              </a:spcAft>
              <a:buNone/>
            </a:pPr>
            <a:r>
              <a:rPr lang="en-US" sz="1000" dirty="0">
                <a:solidFill>
                  <a:srgbClr val="000000"/>
                </a:solidFill>
                <a:latin typeface="Open Sans" pitchFamily="34" charset="0"/>
                <a:ea typeface="Open Sans" pitchFamily="34" charset="-122"/>
                <a:cs typeface="Open Sans" pitchFamily="34" charset="-120"/>
              </a:rPr>
              <a:t>Full Stack Software Developer</a:t>
            </a:r>
            <a:endParaRPr lang="en-US" sz="1000" dirty="0"/>
          </a:p>
          <a:p>
            <a:pPr marL="0" indent="0" algn="l">
              <a:lnSpc>
                <a:spcPct val="122000"/>
              </a:lnSpc>
              <a:buNone/>
            </a:pPr>
            <a:r>
              <a:rPr lang="en-US" sz="1000" dirty="0">
                <a:solidFill>
                  <a:srgbClr val="000000"/>
                </a:solidFill>
                <a:latin typeface="Open Sans" pitchFamily="34" charset="0"/>
                <a:ea typeface="Open Sans" pitchFamily="34" charset="-122"/>
                <a:cs typeface="Open Sans" pitchFamily="34" charset="-120"/>
              </a:rPr>
              <a:t>📧 devlakruwan@gmail.com</a:t>
            </a:r>
            <a:endParaRPr lang="en-US" sz="1000" dirty="0"/>
          </a:p>
          <a:p>
            <a:pPr marL="0" indent="0" algn="l">
              <a:lnSpc>
                <a:spcPct val="122000"/>
              </a:lnSpc>
              <a:buNone/>
            </a:pPr>
            <a:r>
              <a:rPr lang="en-US" sz="1000" dirty="0">
                <a:solidFill>
                  <a:srgbClr val="000000"/>
                </a:solidFill>
                <a:latin typeface="Open Sans" pitchFamily="34" charset="0"/>
                <a:ea typeface="Open Sans" pitchFamily="34" charset="-122"/>
                <a:cs typeface="Open Sans" pitchFamily="34" charset="-120"/>
              </a:rPr>
              <a:t>📱 WhatsApp: +94 71 408 9493</a:t>
            </a:r>
            <a:endParaRPr lang="en-US" sz="1000" dirty="0"/>
          </a:p>
        </p:txBody>
      </p:sp>
      <p:sp>
        <p:nvSpPr>
          <p:cNvPr id="7" name="Shape 5"/>
          <p:cNvSpPr/>
          <p:nvPr/>
        </p:nvSpPr>
        <p:spPr>
          <a:xfrm>
            <a:off x="575816" y="3094955"/>
            <a:ext cx="3804568" cy="14288"/>
          </a:xfrm>
          <a:prstGeom prst="roundRect">
            <a:avLst>
              <a:gd name="adj" fmla="val 59998"/>
            </a:avLst>
          </a:prstGeom>
          <a:solidFill>
            <a:srgbClr val="000000">
              <a:alpha val="50000"/>
            </a:srgbClr>
          </a:solidFill>
          <a:ln/>
        </p:spPr>
      </p:sp>
      <p:sp>
        <p:nvSpPr>
          <p:cNvPr id="8" name="Text 6"/>
          <p:cNvSpPr/>
          <p:nvPr/>
        </p:nvSpPr>
        <p:spPr>
          <a:xfrm>
            <a:off x="575816" y="3260154"/>
            <a:ext cx="3804568" cy="199653"/>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Unbounded Bold" pitchFamily="34" charset="0"/>
                <a:ea typeface="Unbounded Bold" pitchFamily="34" charset="-122"/>
                <a:cs typeface="Unbounded Bold" pitchFamily="34" charset="-120"/>
              </a:rPr>
              <a:t>Invoice Reference</a:t>
            </a:r>
            <a:endParaRPr lang="en-US" sz="1250" dirty="0"/>
          </a:p>
        </p:txBody>
      </p:sp>
      <p:sp>
        <p:nvSpPr>
          <p:cNvPr id="9" name="Text 7"/>
          <p:cNvSpPr/>
          <p:nvPr/>
        </p:nvSpPr>
        <p:spPr>
          <a:xfrm>
            <a:off x="575816" y="3565624"/>
            <a:ext cx="3804568" cy="560561"/>
          </a:xfrm>
          <a:prstGeom prst="rect">
            <a:avLst/>
          </a:prstGeom>
          <a:noFill/>
          <a:ln/>
        </p:spPr>
        <p:txBody>
          <a:bodyPr wrap="square" lIns="0" tIns="0" rIns="0" bIns="0" rtlCol="0" anchor="t">
            <a:normAutofit/>
          </a:bodyPr>
          <a:lstStyle/>
          <a:p>
            <a:pPr marL="0" indent="0" algn="l">
              <a:lnSpc>
                <a:spcPct val="122000"/>
              </a:lnSpc>
              <a:buNone/>
            </a:pPr>
            <a:r>
              <a:rPr lang="en-US" sz="1000" b="1" dirty="0">
                <a:solidFill>
                  <a:srgbClr val="000000"/>
                </a:solidFill>
                <a:latin typeface="Open Sans Bold" pitchFamily="34" charset="0"/>
                <a:ea typeface="Open Sans Bold" pitchFamily="34" charset="-122"/>
                <a:cs typeface="Open Sans Bold" pitchFamily="34" charset="-120"/>
              </a:rPr>
              <a:t>Invoice Number:</a:t>
            </a:r>
            <a:r>
              <a:rPr lang="en-US" sz="1000" dirty="0">
                <a:solidFill>
                  <a:srgbClr val="000000"/>
                </a:solidFill>
                <a:latin typeface="Open Sans" pitchFamily="34" charset="0"/>
                <a:ea typeface="Open Sans" pitchFamily="34" charset="-122"/>
                <a:cs typeface="Open Sans" pitchFamily="34" charset="-120"/>
              </a:rPr>
              <a:t> JV-2026-001</a:t>
            </a:r>
            <a:endParaRPr lang="en-US" sz="1000" dirty="0"/>
          </a:p>
          <a:p>
            <a:pPr marL="0" indent="0" algn="l">
              <a:lnSpc>
                <a:spcPct val="122000"/>
              </a:lnSpc>
              <a:buNone/>
            </a:pPr>
            <a:r>
              <a:rPr lang="en-US" sz="1000" b="1" dirty="0">
                <a:solidFill>
                  <a:srgbClr val="000000"/>
                </a:solidFill>
                <a:latin typeface="Open Sans Bold" pitchFamily="34" charset="0"/>
                <a:ea typeface="Open Sans Bold" pitchFamily="34" charset="-122"/>
                <a:cs typeface="Open Sans Bold" pitchFamily="34" charset="-120"/>
              </a:rPr>
              <a:t>Invoice Date:</a:t>
            </a:r>
            <a:r>
              <a:rPr lang="en-US" sz="1000" dirty="0">
                <a:solidFill>
                  <a:srgbClr val="000000"/>
                </a:solidFill>
                <a:latin typeface="Open Sans" pitchFamily="34" charset="0"/>
                <a:ea typeface="Open Sans" pitchFamily="34" charset="-122"/>
                <a:cs typeface="Open Sans" pitchFamily="34" charset="-120"/>
              </a:rPr>
              <a:t> 07/15/2026</a:t>
            </a:r>
            <a:endParaRPr lang="en-US" sz="1000" dirty="0"/>
          </a:p>
          <a:p>
            <a:pPr marL="0" indent="0" algn="l">
              <a:lnSpc>
                <a:spcPct val="122000"/>
              </a:lnSpc>
              <a:buNone/>
            </a:pPr>
            <a:r>
              <a:rPr lang="en-US" sz="1000" b="1" dirty="0">
                <a:solidFill>
                  <a:srgbClr val="000000"/>
                </a:solidFill>
                <a:latin typeface="Open Sans Bold" pitchFamily="34" charset="0"/>
                <a:ea typeface="Open Sans Bold" pitchFamily="34" charset="-122"/>
                <a:cs typeface="Open Sans Bold" pitchFamily="34" charset="-120"/>
              </a:rPr>
              <a:t>Due Date:</a:t>
            </a:r>
            <a:r>
              <a:rPr lang="en-US" sz="1000" dirty="0">
                <a:solidFill>
                  <a:srgbClr val="000000"/>
                </a:solidFill>
                <a:latin typeface="Open Sans" pitchFamily="34" charset="0"/>
                <a:ea typeface="Open Sans" pitchFamily="34" charset="-122"/>
                <a:cs typeface="Open Sans" pitchFamily="34" charset="-120"/>
              </a:rPr>
              <a:t> _______________</a:t>
            </a:r>
            <a:endParaRPr lang="en-US" sz="1000" dirty="0"/>
          </a:p>
        </p:txBody>
      </p:sp>
      <p:sp>
        <p:nvSpPr>
          <p:cNvPr id="10" name="Text 8"/>
          <p:cNvSpPr/>
          <p:nvPr/>
        </p:nvSpPr>
        <p:spPr>
          <a:xfrm>
            <a:off x="4732586" y="1776933"/>
            <a:ext cx="3876154" cy="199653"/>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Billed To</a:t>
            </a:r>
            <a:endParaRPr lang="en-US" sz="1250" dirty="0"/>
          </a:p>
        </p:txBody>
      </p:sp>
      <p:sp>
        <p:nvSpPr>
          <p:cNvPr id="11" name="Text 9"/>
          <p:cNvSpPr/>
          <p:nvPr/>
        </p:nvSpPr>
        <p:spPr>
          <a:xfrm>
            <a:off x="4732586" y="2082403"/>
            <a:ext cx="3876154" cy="373707"/>
          </a:xfrm>
          <a:prstGeom prst="rect">
            <a:avLst/>
          </a:prstGeom>
          <a:noFill/>
          <a:ln/>
        </p:spPr>
        <p:txBody>
          <a:bodyPr wrap="square" lIns="0" tIns="0" rIns="0" bIns="0" rtlCol="0" anchor="t">
            <a:normAutofit/>
          </a:bodyPr>
          <a:lstStyle/>
          <a:p>
            <a:pPr marL="0" indent="0" algn="l">
              <a:lnSpc>
                <a:spcPct val="122000"/>
              </a:lnSpc>
              <a:buNone/>
            </a:pPr>
            <a:r>
              <a:rPr lang="en-US" sz="1000" b="1" dirty="0">
                <a:solidFill>
                  <a:srgbClr val="333F70"/>
                </a:solidFill>
                <a:latin typeface="Open Sans Bold" pitchFamily="34" charset="0"/>
                <a:ea typeface="Open Sans Bold" pitchFamily="34" charset="-122"/>
                <a:cs typeface="Open Sans Bold" pitchFamily="34" charset="-120"/>
              </a:rPr>
              <a:t>Juice Vibe Waskaduwa</a:t>
            </a:r>
            <a:endParaRPr lang="en-US" sz="1000" dirty="0"/>
          </a:p>
          <a:p>
            <a:pPr marL="0" indent="0" algn="l">
              <a:lnSpc>
                <a:spcPct val="122000"/>
              </a:lnSpc>
              <a:buNone/>
            </a:pPr>
            <a:r>
              <a:rPr lang="en-US" sz="1000" dirty="0">
                <a:solidFill>
                  <a:srgbClr val="333F70"/>
                </a:solidFill>
                <a:latin typeface="Open Sans" pitchFamily="34" charset="0"/>
                <a:ea typeface="Open Sans" pitchFamily="34" charset="-122"/>
                <a:cs typeface="Open Sans" pitchFamily="34" charset="-120"/>
              </a:rPr>
              <a:t>Bentota, Sri Lanka</a:t>
            </a:r>
            <a:endParaRPr lang="en-US" sz="1000" dirty="0"/>
          </a:p>
        </p:txBody>
      </p:sp>
      <p:sp>
        <p:nvSpPr>
          <p:cNvPr id="12" name="Shape 10"/>
          <p:cNvSpPr/>
          <p:nvPr/>
        </p:nvSpPr>
        <p:spPr>
          <a:xfrm>
            <a:off x="4732586" y="2607022"/>
            <a:ext cx="3876154" cy="14288"/>
          </a:xfrm>
          <a:prstGeom prst="roundRect">
            <a:avLst>
              <a:gd name="adj" fmla="val 59998"/>
            </a:avLst>
          </a:prstGeom>
          <a:solidFill>
            <a:srgbClr val="333F70">
              <a:alpha val="50000"/>
            </a:srgbClr>
          </a:solidFill>
          <a:ln/>
        </p:spPr>
      </p:sp>
      <p:sp>
        <p:nvSpPr>
          <p:cNvPr id="13" name="Text 11"/>
          <p:cNvSpPr/>
          <p:nvPr/>
        </p:nvSpPr>
        <p:spPr>
          <a:xfrm>
            <a:off x="4732586" y="2772221"/>
            <a:ext cx="3876154" cy="199653"/>
          </a:xfrm>
          <a:prstGeom prst="rect">
            <a:avLst/>
          </a:prstGeom>
          <a:noFill/>
          <a:ln/>
        </p:spPr>
        <p:txBody>
          <a:bodyPr wrap="none" lIns="0" tIns="0" rIns="0" bIns="0" rtlCol="0" anchor="t"/>
          <a:lstStyle/>
          <a:p>
            <a:pPr marL="0" indent="0" algn="l">
              <a:lnSpc>
                <a:spcPct val="104000"/>
              </a:lnSpc>
              <a:buNone/>
            </a:pPr>
            <a:r>
              <a:rPr lang="en-US" sz="1250" b="1" dirty="0">
                <a:solidFill>
                  <a:srgbClr val="333F70"/>
                </a:solidFill>
                <a:latin typeface="Unbounded Bold" pitchFamily="34" charset="0"/>
                <a:ea typeface="Unbounded Bold" pitchFamily="34" charset="-122"/>
                <a:cs typeface="Unbounded Bold" pitchFamily="34" charset="-120"/>
              </a:rPr>
              <a:t>Project Title</a:t>
            </a:r>
            <a:endParaRPr lang="en-US" sz="1250" dirty="0"/>
          </a:p>
        </p:txBody>
      </p:sp>
      <p:sp>
        <p:nvSpPr>
          <p:cNvPr id="14" name="Text 12"/>
          <p:cNvSpPr/>
          <p:nvPr/>
        </p:nvSpPr>
        <p:spPr>
          <a:xfrm>
            <a:off x="4732586" y="3077691"/>
            <a:ext cx="3876154" cy="1403152"/>
          </a:xfrm>
          <a:prstGeom prst="rect">
            <a:avLst/>
          </a:prstGeom>
          <a:noFill/>
          <a:ln/>
        </p:spPr>
        <p:txBody>
          <a:bodyPr wrap="square" lIns="0" tIns="0" rIns="0" bIns="0" rtlCol="0" anchor="t">
            <a:normAutofit/>
          </a:bodyPr>
          <a:lstStyle/>
          <a:p>
            <a:pPr marL="0" indent="0" algn="l">
              <a:lnSpc>
                <a:spcPct val="122000"/>
              </a:lnSpc>
              <a:spcAft>
                <a:spcPts val="700"/>
              </a:spcAft>
              <a:buNone/>
            </a:pPr>
            <a:r>
              <a:rPr lang="en-US" sz="1000" b="1" dirty="0">
                <a:solidFill>
                  <a:srgbClr val="333F70"/>
                </a:solidFill>
                <a:latin typeface="Open Sans Bold" pitchFamily="34" charset="0"/>
                <a:ea typeface="Open Sans Bold" pitchFamily="34" charset="-122"/>
                <a:cs typeface="Open Sans Bold" pitchFamily="34" charset="-120"/>
              </a:rPr>
              <a:t>Juice Vibe Waskaduwa – Complete Digital Platform Development</a:t>
            </a:r>
            <a:endParaRPr lang="en-US" sz="1000" dirty="0"/>
          </a:p>
          <a:p>
            <a:pPr marL="0" indent="0" algn="l">
              <a:lnSpc>
                <a:spcPct val="122000"/>
              </a:lnSpc>
              <a:buNone/>
            </a:pPr>
            <a:r>
              <a:rPr lang="en-US" sz="1000" dirty="0">
                <a:solidFill>
                  <a:srgbClr val="333F70"/>
                </a:solidFill>
                <a:latin typeface="Open Sans" pitchFamily="34" charset="0"/>
                <a:ea typeface="Open Sans" pitchFamily="34" charset="-122"/>
                <a:cs typeface="Open Sans" pitchFamily="34" charset="-120"/>
              </a:rPr>
              <a:t>A full-stack digital platform developed to modernize Juice Vibe Waskaduwa's customer experience and business operations. The solution encompasses a customer-facing website, an admin dashboard, a backend API, database infrastructure, cloud deployment, and integrated business management tools.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0023" y="454000"/>
            <a:ext cx="8063954" cy="339030"/>
          </a:xfrm>
          <a:prstGeom prst="rect">
            <a:avLst/>
          </a:prstGeom>
          <a:noFill/>
          <a:ln/>
        </p:spPr>
        <p:txBody>
          <a:bodyPr wrap="none" lIns="0" tIns="0" rIns="0" bIns="0" rtlCol="0" anchor="t"/>
          <a:lstStyle/>
          <a:p>
            <a:pPr marL="0" indent="0" algn="l">
              <a:lnSpc>
                <a:spcPct val="104000"/>
              </a:lnSpc>
              <a:buNone/>
            </a:pPr>
            <a:r>
              <a:rPr lang="en-US" sz="2100" b="1" dirty="0">
                <a:solidFill>
                  <a:srgbClr val="333F70"/>
                </a:solidFill>
                <a:latin typeface="Unbounded Bold" pitchFamily="34" charset="0"/>
                <a:ea typeface="Unbounded Bold" pitchFamily="34" charset="-122"/>
                <a:cs typeface="Unbounded Bold" pitchFamily="34" charset="-120"/>
              </a:rPr>
              <a:t>Project Overview</a:t>
            </a:r>
            <a:endParaRPr lang="en-US" sz="2100" dirty="0"/>
          </a:p>
        </p:txBody>
      </p:sp>
      <p:sp>
        <p:nvSpPr>
          <p:cNvPr id="3" name="Text 1"/>
          <p:cNvSpPr/>
          <p:nvPr/>
        </p:nvSpPr>
        <p:spPr>
          <a:xfrm>
            <a:off x="540023" y="945579"/>
            <a:ext cx="8063954" cy="1415876"/>
          </a:xfrm>
          <a:prstGeom prst="rect">
            <a:avLst/>
          </a:prstGeom>
          <a:noFill/>
          <a:ln/>
        </p:spPr>
        <p:txBody>
          <a:bodyPr wrap="square" lIns="0" tIns="0" rIns="0" bIns="0" rtlCol="0" anchor="t">
            <a:normAutofit/>
          </a:bodyPr>
          <a:lstStyle/>
          <a:p>
            <a:pPr marL="0" indent="0" algn="l">
              <a:lnSpc>
                <a:spcPct val="114000"/>
              </a:lnSpc>
              <a:spcAft>
                <a:spcPts val="650"/>
              </a:spcAft>
              <a:buNone/>
            </a:pPr>
            <a:r>
              <a:rPr lang="en-US" sz="850" dirty="0">
                <a:solidFill>
                  <a:srgbClr val="333F70"/>
                </a:solidFill>
                <a:latin typeface="Open Sans" pitchFamily="34" charset="0"/>
                <a:ea typeface="Open Sans" pitchFamily="34" charset="-122"/>
                <a:cs typeface="Open Sans" pitchFamily="34" charset="-120"/>
              </a:rPr>
              <a:t>The Juice Vibe Waskaduwa Digital Platform is a comprehensive, modern web application built to transform how the business operates and engages with its customers. This project represents a complete end-to-end software development engagement — from initial UI/UX design through to cloud deployment and final handover. Every component has been developed with performance, security, and scalability in mind, ensuring the platform can grow alongside the business.</a:t>
            </a:r>
            <a:endParaRPr lang="en-US" sz="850" dirty="0"/>
          </a:p>
          <a:p>
            <a:pPr marL="0" indent="0" algn="l">
              <a:lnSpc>
                <a:spcPct val="114000"/>
              </a:lnSpc>
              <a:buNone/>
            </a:pPr>
            <a:r>
              <a:rPr lang="en-US" sz="850" dirty="0">
                <a:solidFill>
                  <a:srgbClr val="333F70"/>
                </a:solidFill>
                <a:latin typeface="Open Sans" pitchFamily="34" charset="0"/>
                <a:ea typeface="Open Sans" pitchFamily="34" charset="-122"/>
                <a:cs typeface="Open Sans" pitchFamily="34" charset="-120"/>
              </a:rPr>
              <a:t>The platform is structured around six core pillars. The customer-facing website provides an attractive, mobile-responsive experience where visitors can browse the menu, view products, explore the gallery, and interact with the brand. The admin dashboard gives business owners and staff full control over menu items, categories, orders, and business settings without requiring any technical knowledge. The backend API powers all data operations securely and efficiently, while the database system stores all business and customer data with reliability. Cloud deployment ensures the platform is accessible 24/7, and the integrated business management tools streamline day-to-day operations.</a:t>
            </a:r>
            <a:endParaRPr lang="en-US" sz="8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0023" y="2447255"/>
            <a:ext cx="216991" cy="216991"/>
          </a:xfrm>
          <a:prstGeom prst="rect">
            <a:avLst/>
          </a:prstGeom>
        </p:spPr>
      </p:pic>
      <p:sp>
        <p:nvSpPr>
          <p:cNvPr id="5" name="Text 2"/>
          <p:cNvSpPr/>
          <p:nvPr/>
        </p:nvSpPr>
        <p:spPr>
          <a:xfrm>
            <a:off x="540023" y="2759571"/>
            <a:ext cx="3984278" cy="169515"/>
          </a:xfrm>
          <a:prstGeom prst="rect">
            <a:avLst/>
          </a:prstGeom>
          <a:noFill/>
          <a:ln/>
        </p:spPr>
        <p:txBody>
          <a:bodyPr wrap="none" lIns="0" tIns="0" rIns="0" bIns="0" rtlCol="0" anchor="t"/>
          <a:lstStyle/>
          <a:p>
            <a:pPr marL="0" indent="0" algn="l">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Customer Website</a:t>
            </a:r>
            <a:endParaRPr lang="en-US" sz="1050" dirty="0"/>
          </a:p>
        </p:txBody>
      </p:sp>
      <p:sp>
        <p:nvSpPr>
          <p:cNvPr id="6" name="Text 3"/>
          <p:cNvSpPr/>
          <p:nvPr/>
        </p:nvSpPr>
        <p:spPr>
          <a:xfrm>
            <a:off x="540023" y="2974851"/>
            <a:ext cx="3984278" cy="591145"/>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333F70"/>
                </a:solidFill>
                <a:latin typeface="Open Sans" pitchFamily="34" charset="0"/>
                <a:ea typeface="Open Sans" pitchFamily="34" charset="-122"/>
                <a:cs typeface="Open Sans" pitchFamily="34" charset="-120"/>
              </a:rPr>
              <a:t>A premium, fully responsive website built with Next.js that delivers a fast and engaging experience across all devices. Customers can browse the menu, view products, explore the photo gallery, and use the shopping cart feature — all optimized for mobile and desktop.</a:t>
            </a:r>
            <a:endParaRPr lang="en-US" sz="8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9625" y="2447255"/>
            <a:ext cx="216991" cy="216991"/>
          </a:xfrm>
          <a:prstGeom prst="rect">
            <a:avLst/>
          </a:prstGeom>
        </p:spPr>
      </p:pic>
      <p:sp>
        <p:nvSpPr>
          <p:cNvPr id="8" name="Text 4"/>
          <p:cNvSpPr/>
          <p:nvPr/>
        </p:nvSpPr>
        <p:spPr>
          <a:xfrm>
            <a:off x="4619625" y="2759571"/>
            <a:ext cx="3984352" cy="169515"/>
          </a:xfrm>
          <a:prstGeom prst="rect">
            <a:avLst/>
          </a:prstGeom>
          <a:noFill/>
          <a:ln/>
        </p:spPr>
        <p:txBody>
          <a:bodyPr wrap="none" lIns="0" tIns="0" rIns="0" bIns="0" rtlCol="0" anchor="t"/>
          <a:lstStyle/>
          <a:p>
            <a:pPr marL="0" indent="0" algn="l">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Admin Dashboard</a:t>
            </a:r>
            <a:endParaRPr lang="en-US" sz="1050" dirty="0"/>
          </a:p>
        </p:txBody>
      </p:sp>
      <p:sp>
        <p:nvSpPr>
          <p:cNvPr id="9" name="Text 5"/>
          <p:cNvSpPr/>
          <p:nvPr/>
        </p:nvSpPr>
        <p:spPr>
          <a:xfrm>
            <a:off x="4619625" y="2974851"/>
            <a:ext cx="3984352" cy="591145"/>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333F70"/>
                </a:solidFill>
                <a:latin typeface="Open Sans" pitchFamily="34" charset="0"/>
                <a:ea typeface="Open Sans" pitchFamily="34" charset="-122"/>
                <a:cs typeface="Open Sans" pitchFamily="34" charset="-120"/>
              </a:rPr>
              <a:t>A powerful management interface that gives Juice Vibe staff full control over the business. Manage menus, categories, orders, and gallery content through an intuitive interface. User role management ensures the right people have the right access levels.</a:t>
            </a:r>
            <a:endParaRPr lang="en-US" sz="8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0023" y="3718545"/>
            <a:ext cx="216991" cy="216991"/>
          </a:xfrm>
          <a:prstGeom prst="rect">
            <a:avLst/>
          </a:prstGeom>
        </p:spPr>
      </p:pic>
      <p:sp>
        <p:nvSpPr>
          <p:cNvPr id="11" name="Text 6"/>
          <p:cNvSpPr/>
          <p:nvPr/>
        </p:nvSpPr>
        <p:spPr>
          <a:xfrm>
            <a:off x="540023" y="4030861"/>
            <a:ext cx="3984278" cy="169515"/>
          </a:xfrm>
          <a:prstGeom prst="rect">
            <a:avLst/>
          </a:prstGeom>
          <a:noFill/>
          <a:ln/>
        </p:spPr>
        <p:txBody>
          <a:bodyPr wrap="none" lIns="0" tIns="0" rIns="0" bIns="0" rtlCol="0" anchor="t"/>
          <a:lstStyle/>
          <a:p>
            <a:pPr marL="0" indent="0" algn="l">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Backend API</a:t>
            </a:r>
            <a:endParaRPr lang="en-US" sz="1050" dirty="0"/>
          </a:p>
        </p:txBody>
      </p:sp>
      <p:sp>
        <p:nvSpPr>
          <p:cNvPr id="12" name="Text 7"/>
          <p:cNvSpPr/>
          <p:nvPr/>
        </p:nvSpPr>
        <p:spPr>
          <a:xfrm>
            <a:off x="540023" y="4246141"/>
            <a:ext cx="3984278" cy="443359"/>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333F70"/>
                </a:solidFill>
                <a:latin typeface="Open Sans" pitchFamily="34" charset="0"/>
                <a:ea typeface="Open Sans" pitchFamily="34" charset="-122"/>
                <a:cs typeface="Open Sans" pitchFamily="34" charset="-120"/>
              </a:rPr>
              <a:t>A robust REST API built with NestJS handles all data operations securely and efficiently. JWT authentication protects user sessions, while Swagger documentation makes the API easy to understand and extend in the future.</a:t>
            </a:r>
            <a:endParaRPr lang="en-US" sz="8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19625" y="3718545"/>
            <a:ext cx="216991" cy="216991"/>
          </a:xfrm>
          <a:prstGeom prst="rect">
            <a:avLst/>
          </a:prstGeom>
        </p:spPr>
      </p:pic>
      <p:sp>
        <p:nvSpPr>
          <p:cNvPr id="14" name="Text 8"/>
          <p:cNvSpPr/>
          <p:nvPr/>
        </p:nvSpPr>
        <p:spPr>
          <a:xfrm>
            <a:off x="4619625" y="4030861"/>
            <a:ext cx="3984352" cy="169515"/>
          </a:xfrm>
          <a:prstGeom prst="rect">
            <a:avLst/>
          </a:prstGeom>
          <a:noFill/>
          <a:ln/>
        </p:spPr>
        <p:txBody>
          <a:bodyPr wrap="none" lIns="0" tIns="0" rIns="0" bIns="0" rtlCol="0" anchor="t"/>
          <a:lstStyle/>
          <a:p>
            <a:pPr marL="0" indent="0" algn="l">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Database &amp; Cloud</a:t>
            </a:r>
            <a:endParaRPr lang="en-US" sz="1050" dirty="0"/>
          </a:p>
        </p:txBody>
      </p:sp>
      <p:sp>
        <p:nvSpPr>
          <p:cNvPr id="15" name="Text 9"/>
          <p:cNvSpPr/>
          <p:nvPr/>
        </p:nvSpPr>
        <p:spPr>
          <a:xfrm>
            <a:off x="4619625" y="4246141"/>
            <a:ext cx="3984352" cy="443359"/>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333F70"/>
                </a:solidFill>
                <a:latin typeface="Open Sans" pitchFamily="34" charset="0"/>
                <a:ea typeface="Open Sans" pitchFamily="34" charset="-122"/>
                <a:cs typeface="Open Sans" pitchFamily="34" charset="-120"/>
              </a:rPr>
              <a:t>A PostgreSQL database managed through Prisma ORM ensures data integrity and scalability. Cloud deployment on Vercel with Cloudinary image storage and Neon PostgreSQL keeps the platform running reliably around the clock.</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0023" y="447377"/>
            <a:ext cx="8063954" cy="301377"/>
          </a:xfrm>
          <a:prstGeom prst="rect">
            <a:avLst/>
          </a:prstGeom>
          <a:noFill/>
          <a:ln/>
        </p:spPr>
        <p:txBody>
          <a:bodyPr wrap="none" lIns="0" tIns="0" rIns="0" bIns="0" rtlCol="0" anchor="t"/>
          <a:lstStyle/>
          <a:p>
            <a:pPr marL="0" indent="0" algn="l">
              <a:lnSpc>
                <a:spcPct val="104000"/>
              </a:lnSpc>
              <a:buNone/>
            </a:pPr>
            <a:r>
              <a:rPr lang="en-US" sz="1850" b="1" dirty="0">
                <a:solidFill>
                  <a:srgbClr val="333F70"/>
                </a:solidFill>
                <a:latin typeface="Unbounded Bold" pitchFamily="34" charset="0"/>
                <a:ea typeface="Unbounded Bold" pitchFamily="34" charset="-122"/>
                <a:cs typeface="Unbounded Bold" pitchFamily="34" charset="-120"/>
              </a:rPr>
              <a:t>Software Development Cost Breakdown</a:t>
            </a:r>
            <a:endParaRPr lang="en-US" sz="1850" dirty="0"/>
          </a:p>
        </p:txBody>
      </p:sp>
      <p:sp>
        <p:nvSpPr>
          <p:cNvPr id="3" name="Text 1"/>
          <p:cNvSpPr/>
          <p:nvPr/>
        </p:nvSpPr>
        <p:spPr>
          <a:xfrm>
            <a:off x="540023" y="869305"/>
            <a:ext cx="8063954" cy="819671"/>
          </a:xfrm>
          <a:prstGeom prst="rect">
            <a:avLst/>
          </a:prstGeom>
          <a:noFill/>
          <a:ln/>
        </p:spPr>
        <p:txBody>
          <a:bodyPr wrap="square" lIns="0" tIns="0" rIns="0" bIns="0" rtlCol="0" anchor="t">
            <a:normAutofit/>
          </a:bodyPr>
          <a:lstStyle/>
          <a:p>
            <a:pPr marL="0" indent="0" algn="l">
              <a:lnSpc>
                <a:spcPct val="108000"/>
              </a:lnSpc>
              <a:spcAft>
                <a:spcPts val="500"/>
              </a:spcAft>
              <a:buNone/>
            </a:pPr>
            <a:r>
              <a:rPr lang="en-US" sz="750" dirty="0">
                <a:solidFill>
                  <a:srgbClr val="333F70"/>
                </a:solidFill>
                <a:latin typeface="Open Sans" pitchFamily="34" charset="0"/>
                <a:ea typeface="Open Sans" pitchFamily="34" charset="-122"/>
                <a:cs typeface="Open Sans" pitchFamily="34" charset="-120"/>
              </a:rPr>
              <a:t>The table below provides a detailed breakdown of every service included in this project, along with the individual cost for each component. Each line item represents a distinct area of development work — from initial design and user experience planning through to final testing, quality assurance, and project handover. The costs reflect the time, expertise, and technical resources required to deliver a professional-grade digital platform tailored to the specific needs of Juice Vibe Waskaduwa.</a:t>
            </a:r>
            <a:endParaRPr lang="en-US" sz="750" dirty="0"/>
          </a:p>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The development process is structured to ensure quality at every stage. UI/UX design establishes the visual foundation, front-end and back-end development bring the platform to life, and rigorous testing ensures a polished final product. Cloud deployment and documentation complete the engagement, ensuring the platform is production-ready and fully documented for future reference.</a:t>
            </a:r>
            <a:endParaRPr lang="en-US" sz="750" dirty="0"/>
          </a:p>
        </p:txBody>
      </p:sp>
      <p:sp>
        <p:nvSpPr>
          <p:cNvPr id="4" name="Shape 2"/>
          <p:cNvSpPr/>
          <p:nvPr/>
        </p:nvSpPr>
        <p:spPr>
          <a:xfrm>
            <a:off x="540023" y="1756767"/>
            <a:ext cx="8063954" cy="2495550"/>
          </a:xfrm>
          <a:prstGeom prst="roundRect">
            <a:avLst>
              <a:gd name="adj" fmla="val 1623"/>
            </a:avLst>
          </a:prstGeom>
          <a:noFill/>
          <a:ln w="4763">
            <a:solidFill>
              <a:srgbClr val="000000">
                <a:alpha val="8000"/>
              </a:srgbClr>
            </a:solidFill>
            <a:prstDash val="solid"/>
          </a:ln>
        </p:spPr>
      </p:sp>
      <p:sp>
        <p:nvSpPr>
          <p:cNvPr id="5" name="Shape 3"/>
          <p:cNvSpPr/>
          <p:nvPr/>
        </p:nvSpPr>
        <p:spPr>
          <a:xfrm>
            <a:off x="544785" y="1761530"/>
            <a:ext cx="8054429" cy="207169"/>
          </a:xfrm>
          <a:prstGeom prst="rect">
            <a:avLst/>
          </a:prstGeom>
          <a:solidFill>
            <a:srgbClr val="FFFFFF">
              <a:alpha val="4000"/>
            </a:srgbClr>
          </a:solidFill>
          <a:ln/>
        </p:spPr>
      </p:sp>
      <p:sp>
        <p:nvSpPr>
          <p:cNvPr id="6" name="Text 4"/>
          <p:cNvSpPr/>
          <p:nvPr/>
        </p:nvSpPr>
        <p:spPr>
          <a:xfrm>
            <a:off x="641300" y="1802457"/>
            <a:ext cx="5899993" cy="125313"/>
          </a:xfrm>
          <a:prstGeom prst="rect">
            <a:avLst/>
          </a:prstGeom>
          <a:noFill/>
          <a:ln/>
        </p:spPr>
        <p:txBody>
          <a:bodyPr wrap="none" lIns="0" tIns="0" rIns="0" bIns="0" rtlCol="0" anchor="t"/>
          <a:lstStyle/>
          <a:p>
            <a:pPr marL="0" indent="0" algn="l">
              <a:lnSpc>
                <a:spcPct val="108000"/>
              </a:lnSpc>
              <a:buNone/>
            </a:pPr>
            <a:r>
              <a:rPr lang="en-US" sz="750" b="1" dirty="0">
                <a:solidFill>
                  <a:srgbClr val="333F70"/>
                </a:solidFill>
                <a:latin typeface="Open Sans Bold" pitchFamily="34" charset="0"/>
                <a:ea typeface="Open Sans Bold" pitchFamily="34" charset="-122"/>
                <a:cs typeface="Open Sans Bold" pitchFamily="34" charset="-120"/>
              </a:rPr>
              <a:t>Service</a:t>
            </a:r>
            <a:endParaRPr lang="en-US" sz="750" dirty="0"/>
          </a:p>
        </p:txBody>
      </p:sp>
      <p:sp>
        <p:nvSpPr>
          <p:cNvPr id="7" name="Text 5"/>
          <p:cNvSpPr/>
          <p:nvPr/>
        </p:nvSpPr>
        <p:spPr>
          <a:xfrm>
            <a:off x="6281738" y="1802457"/>
            <a:ext cx="2678237" cy="125313"/>
          </a:xfrm>
          <a:prstGeom prst="rect">
            <a:avLst/>
          </a:prstGeom>
          <a:noFill/>
          <a:ln/>
        </p:spPr>
        <p:txBody>
          <a:bodyPr wrap="none" lIns="0" tIns="0" rIns="0" bIns="0" rtlCol="0" anchor="t"/>
          <a:lstStyle/>
          <a:p>
            <a:pPr marL="0" indent="0" algn="l">
              <a:lnSpc>
                <a:spcPct val="108000"/>
              </a:lnSpc>
              <a:buNone/>
            </a:pPr>
            <a:r>
              <a:rPr lang="en-US" sz="750" b="1" dirty="0">
                <a:solidFill>
                  <a:srgbClr val="333F70"/>
                </a:solidFill>
                <a:latin typeface="Open Sans Bold" pitchFamily="34" charset="0"/>
                <a:ea typeface="Open Sans Bold" pitchFamily="34" charset="-122"/>
                <a:cs typeface="Open Sans Bold" pitchFamily="34" charset="-120"/>
              </a:rPr>
              <a:t>Amount (LKR)</a:t>
            </a:r>
            <a:endParaRPr lang="en-US" sz="750" dirty="0"/>
          </a:p>
        </p:txBody>
      </p:sp>
      <p:sp>
        <p:nvSpPr>
          <p:cNvPr id="8" name="Shape 6"/>
          <p:cNvSpPr/>
          <p:nvPr/>
        </p:nvSpPr>
        <p:spPr>
          <a:xfrm>
            <a:off x="544785" y="1968698"/>
            <a:ext cx="8054429" cy="207169"/>
          </a:xfrm>
          <a:prstGeom prst="rect">
            <a:avLst/>
          </a:prstGeom>
          <a:solidFill>
            <a:srgbClr val="000000">
              <a:alpha val="4000"/>
            </a:srgbClr>
          </a:solidFill>
          <a:ln/>
        </p:spPr>
      </p:sp>
      <p:sp>
        <p:nvSpPr>
          <p:cNvPr id="9" name="Text 7"/>
          <p:cNvSpPr/>
          <p:nvPr/>
        </p:nvSpPr>
        <p:spPr>
          <a:xfrm>
            <a:off x="641300" y="2009626"/>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UI/UX Design &amp; User Experience</a:t>
            </a:r>
            <a:endParaRPr lang="en-US" sz="750" dirty="0"/>
          </a:p>
        </p:txBody>
      </p:sp>
      <p:sp>
        <p:nvSpPr>
          <p:cNvPr id="10" name="Text 8"/>
          <p:cNvSpPr/>
          <p:nvPr/>
        </p:nvSpPr>
        <p:spPr>
          <a:xfrm>
            <a:off x="6281738" y="2009626"/>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20,000</a:t>
            </a:r>
            <a:endParaRPr lang="en-US" sz="750" dirty="0"/>
          </a:p>
        </p:txBody>
      </p:sp>
      <p:sp>
        <p:nvSpPr>
          <p:cNvPr id="11" name="Shape 9"/>
          <p:cNvSpPr/>
          <p:nvPr/>
        </p:nvSpPr>
        <p:spPr>
          <a:xfrm>
            <a:off x="544785" y="2175867"/>
            <a:ext cx="8054429" cy="207169"/>
          </a:xfrm>
          <a:prstGeom prst="rect">
            <a:avLst/>
          </a:prstGeom>
          <a:solidFill>
            <a:srgbClr val="FFFFFF">
              <a:alpha val="4000"/>
            </a:srgbClr>
          </a:solidFill>
          <a:ln/>
        </p:spPr>
      </p:sp>
      <p:sp>
        <p:nvSpPr>
          <p:cNvPr id="12" name="Text 10"/>
          <p:cNvSpPr/>
          <p:nvPr/>
        </p:nvSpPr>
        <p:spPr>
          <a:xfrm>
            <a:off x="641300" y="2216795"/>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Customer Website Development (Next.js)</a:t>
            </a:r>
            <a:endParaRPr lang="en-US" sz="750" dirty="0"/>
          </a:p>
        </p:txBody>
      </p:sp>
      <p:sp>
        <p:nvSpPr>
          <p:cNvPr id="13" name="Text 11"/>
          <p:cNvSpPr/>
          <p:nvPr/>
        </p:nvSpPr>
        <p:spPr>
          <a:xfrm>
            <a:off x="6281738" y="2216795"/>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35,000</a:t>
            </a:r>
            <a:endParaRPr lang="en-US" sz="750" dirty="0"/>
          </a:p>
        </p:txBody>
      </p:sp>
      <p:sp>
        <p:nvSpPr>
          <p:cNvPr id="14" name="Shape 12"/>
          <p:cNvSpPr/>
          <p:nvPr/>
        </p:nvSpPr>
        <p:spPr>
          <a:xfrm>
            <a:off x="544785" y="2383036"/>
            <a:ext cx="8054429" cy="207169"/>
          </a:xfrm>
          <a:prstGeom prst="rect">
            <a:avLst/>
          </a:prstGeom>
          <a:solidFill>
            <a:srgbClr val="000000">
              <a:alpha val="4000"/>
            </a:srgbClr>
          </a:solidFill>
          <a:ln/>
        </p:spPr>
      </p:sp>
      <p:sp>
        <p:nvSpPr>
          <p:cNvPr id="15" name="Text 13"/>
          <p:cNvSpPr/>
          <p:nvPr/>
        </p:nvSpPr>
        <p:spPr>
          <a:xfrm>
            <a:off x="641300" y="2423964"/>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Admin Dashboard Development</a:t>
            </a:r>
            <a:endParaRPr lang="en-US" sz="750" dirty="0"/>
          </a:p>
        </p:txBody>
      </p:sp>
      <p:sp>
        <p:nvSpPr>
          <p:cNvPr id="16" name="Text 14"/>
          <p:cNvSpPr/>
          <p:nvPr/>
        </p:nvSpPr>
        <p:spPr>
          <a:xfrm>
            <a:off x="6281738" y="2423964"/>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35,000</a:t>
            </a:r>
            <a:endParaRPr lang="en-US" sz="750" dirty="0"/>
          </a:p>
        </p:txBody>
      </p:sp>
      <p:sp>
        <p:nvSpPr>
          <p:cNvPr id="17" name="Shape 15"/>
          <p:cNvSpPr/>
          <p:nvPr/>
        </p:nvSpPr>
        <p:spPr>
          <a:xfrm>
            <a:off x="544785" y="2590205"/>
            <a:ext cx="8054429" cy="207169"/>
          </a:xfrm>
          <a:prstGeom prst="rect">
            <a:avLst/>
          </a:prstGeom>
          <a:solidFill>
            <a:srgbClr val="FFFFFF">
              <a:alpha val="4000"/>
            </a:srgbClr>
          </a:solidFill>
          <a:ln/>
        </p:spPr>
      </p:sp>
      <p:sp>
        <p:nvSpPr>
          <p:cNvPr id="18" name="Text 16"/>
          <p:cNvSpPr/>
          <p:nvPr/>
        </p:nvSpPr>
        <p:spPr>
          <a:xfrm>
            <a:off x="641300" y="2631132"/>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Backend API Development (NestJS)</a:t>
            </a:r>
            <a:endParaRPr lang="en-US" sz="750" dirty="0"/>
          </a:p>
        </p:txBody>
      </p:sp>
      <p:sp>
        <p:nvSpPr>
          <p:cNvPr id="19" name="Text 17"/>
          <p:cNvSpPr/>
          <p:nvPr/>
        </p:nvSpPr>
        <p:spPr>
          <a:xfrm>
            <a:off x="6281738" y="2631132"/>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30,000</a:t>
            </a:r>
            <a:endParaRPr lang="en-US" sz="750" dirty="0"/>
          </a:p>
        </p:txBody>
      </p:sp>
      <p:sp>
        <p:nvSpPr>
          <p:cNvPr id="20" name="Shape 18"/>
          <p:cNvSpPr/>
          <p:nvPr/>
        </p:nvSpPr>
        <p:spPr>
          <a:xfrm>
            <a:off x="544785" y="2797373"/>
            <a:ext cx="8054429" cy="207169"/>
          </a:xfrm>
          <a:prstGeom prst="rect">
            <a:avLst/>
          </a:prstGeom>
          <a:solidFill>
            <a:srgbClr val="000000">
              <a:alpha val="4000"/>
            </a:srgbClr>
          </a:solidFill>
          <a:ln/>
        </p:spPr>
      </p:sp>
      <p:sp>
        <p:nvSpPr>
          <p:cNvPr id="21" name="Text 19"/>
          <p:cNvSpPr/>
          <p:nvPr/>
        </p:nvSpPr>
        <p:spPr>
          <a:xfrm>
            <a:off x="641300" y="2838301"/>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Database Design &amp; Prisma ORM</a:t>
            </a:r>
            <a:endParaRPr lang="en-US" sz="750" dirty="0"/>
          </a:p>
        </p:txBody>
      </p:sp>
      <p:sp>
        <p:nvSpPr>
          <p:cNvPr id="22" name="Text 20"/>
          <p:cNvSpPr/>
          <p:nvPr/>
        </p:nvSpPr>
        <p:spPr>
          <a:xfrm>
            <a:off x="6281738" y="2838301"/>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15,000</a:t>
            </a:r>
            <a:endParaRPr lang="en-US" sz="750" dirty="0"/>
          </a:p>
        </p:txBody>
      </p:sp>
      <p:sp>
        <p:nvSpPr>
          <p:cNvPr id="23" name="Shape 21"/>
          <p:cNvSpPr/>
          <p:nvPr/>
        </p:nvSpPr>
        <p:spPr>
          <a:xfrm>
            <a:off x="544785" y="3004542"/>
            <a:ext cx="8054429" cy="207169"/>
          </a:xfrm>
          <a:prstGeom prst="rect">
            <a:avLst/>
          </a:prstGeom>
          <a:solidFill>
            <a:srgbClr val="FFFFFF">
              <a:alpha val="4000"/>
            </a:srgbClr>
          </a:solidFill>
          <a:ln/>
        </p:spPr>
      </p:sp>
      <p:sp>
        <p:nvSpPr>
          <p:cNvPr id="24" name="Text 22"/>
          <p:cNvSpPr/>
          <p:nvPr/>
        </p:nvSpPr>
        <p:spPr>
          <a:xfrm>
            <a:off x="641300" y="3045470"/>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Authentication &amp; Security Implementation</a:t>
            </a:r>
            <a:endParaRPr lang="en-US" sz="750" dirty="0"/>
          </a:p>
        </p:txBody>
      </p:sp>
      <p:sp>
        <p:nvSpPr>
          <p:cNvPr id="25" name="Text 23"/>
          <p:cNvSpPr/>
          <p:nvPr/>
        </p:nvSpPr>
        <p:spPr>
          <a:xfrm>
            <a:off x="6281738" y="3045470"/>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10,000</a:t>
            </a:r>
            <a:endParaRPr lang="en-US" sz="750" dirty="0"/>
          </a:p>
        </p:txBody>
      </p:sp>
      <p:sp>
        <p:nvSpPr>
          <p:cNvPr id="26" name="Shape 24"/>
          <p:cNvSpPr/>
          <p:nvPr/>
        </p:nvSpPr>
        <p:spPr>
          <a:xfrm>
            <a:off x="544785" y="3211711"/>
            <a:ext cx="8054429" cy="207169"/>
          </a:xfrm>
          <a:prstGeom prst="rect">
            <a:avLst/>
          </a:prstGeom>
          <a:solidFill>
            <a:srgbClr val="000000">
              <a:alpha val="4000"/>
            </a:srgbClr>
          </a:solidFill>
          <a:ln/>
        </p:spPr>
      </p:sp>
      <p:sp>
        <p:nvSpPr>
          <p:cNvPr id="27" name="Text 25"/>
          <p:cNvSpPr/>
          <p:nvPr/>
        </p:nvSpPr>
        <p:spPr>
          <a:xfrm>
            <a:off x="641300" y="3252639"/>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Cloud Deployment &amp; Configuration</a:t>
            </a:r>
            <a:endParaRPr lang="en-US" sz="750" dirty="0"/>
          </a:p>
        </p:txBody>
      </p:sp>
      <p:sp>
        <p:nvSpPr>
          <p:cNvPr id="28" name="Text 26"/>
          <p:cNvSpPr/>
          <p:nvPr/>
        </p:nvSpPr>
        <p:spPr>
          <a:xfrm>
            <a:off x="6281738" y="3252639"/>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10,000</a:t>
            </a:r>
            <a:endParaRPr lang="en-US" sz="750" dirty="0"/>
          </a:p>
        </p:txBody>
      </p:sp>
      <p:sp>
        <p:nvSpPr>
          <p:cNvPr id="29" name="Shape 27"/>
          <p:cNvSpPr/>
          <p:nvPr/>
        </p:nvSpPr>
        <p:spPr>
          <a:xfrm>
            <a:off x="544785" y="3418880"/>
            <a:ext cx="8054429" cy="207169"/>
          </a:xfrm>
          <a:prstGeom prst="rect">
            <a:avLst/>
          </a:prstGeom>
          <a:solidFill>
            <a:srgbClr val="FFFFFF">
              <a:alpha val="4000"/>
            </a:srgbClr>
          </a:solidFill>
          <a:ln/>
        </p:spPr>
      </p:sp>
      <p:sp>
        <p:nvSpPr>
          <p:cNvPr id="30" name="Text 28"/>
          <p:cNvSpPr/>
          <p:nvPr/>
        </p:nvSpPr>
        <p:spPr>
          <a:xfrm>
            <a:off x="641300" y="3459807"/>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Cloudinary Image Management Integration</a:t>
            </a:r>
            <a:endParaRPr lang="en-US" sz="750" dirty="0"/>
          </a:p>
        </p:txBody>
      </p:sp>
      <p:sp>
        <p:nvSpPr>
          <p:cNvPr id="31" name="Text 29"/>
          <p:cNvSpPr/>
          <p:nvPr/>
        </p:nvSpPr>
        <p:spPr>
          <a:xfrm>
            <a:off x="6281738" y="3459807"/>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5,000</a:t>
            </a:r>
            <a:endParaRPr lang="en-US" sz="750" dirty="0"/>
          </a:p>
        </p:txBody>
      </p:sp>
      <p:sp>
        <p:nvSpPr>
          <p:cNvPr id="32" name="Shape 30"/>
          <p:cNvSpPr/>
          <p:nvPr/>
        </p:nvSpPr>
        <p:spPr>
          <a:xfrm>
            <a:off x="544785" y="3626048"/>
            <a:ext cx="8054429" cy="207169"/>
          </a:xfrm>
          <a:prstGeom prst="rect">
            <a:avLst/>
          </a:prstGeom>
          <a:solidFill>
            <a:srgbClr val="000000">
              <a:alpha val="4000"/>
            </a:srgbClr>
          </a:solidFill>
          <a:ln/>
        </p:spPr>
      </p:sp>
      <p:sp>
        <p:nvSpPr>
          <p:cNvPr id="33" name="Text 31"/>
          <p:cNvSpPr/>
          <p:nvPr/>
        </p:nvSpPr>
        <p:spPr>
          <a:xfrm>
            <a:off x="641300" y="3666976"/>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API Documentation &amp; Technical Documentation</a:t>
            </a:r>
            <a:endParaRPr lang="en-US" sz="750" dirty="0"/>
          </a:p>
        </p:txBody>
      </p:sp>
      <p:sp>
        <p:nvSpPr>
          <p:cNvPr id="34" name="Text 32"/>
          <p:cNvSpPr/>
          <p:nvPr/>
        </p:nvSpPr>
        <p:spPr>
          <a:xfrm>
            <a:off x="6281738" y="3666976"/>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5,000</a:t>
            </a:r>
            <a:endParaRPr lang="en-US" sz="750" dirty="0"/>
          </a:p>
        </p:txBody>
      </p:sp>
      <p:sp>
        <p:nvSpPr>
          <p:cNvPr id="35" name="Shape 33"/>
          <p:cNvSpPr/>
          <p:nvPr/>
        </p:nvSpPr>
        <p:spPr>
          <a:xfrm>
            <a:off x="544785" y="3833217"/>
            <a:ext cx="8054429" cy="207169"/>
          </a:xfrm>
          <a:prstGeom prst="rect">
            <a:avLst/>
          </a:prstGeom>
          <a:solidFill>
            <a:srgbClr val="FFFFFF">
              <a:alpha val="4000"/>
            </a:srgbClr>
          </a:solidFill>
          <a:ln/>
        </p:spPr>
      </p:sp>
      <p:sp>
        <p:nvSpPr>
          <p:cNvPr id="36" name="Text 34"/>
          <p:cNvSpPr/>
          <p:nvPr/>
        </p:nvSpPr>
        <p:spPr>
          <a:xfrm>
            <a:off x="641300" y="3874145"/>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Testing, Quality Assurance &amp; Bug Fixing</a:t>
            </a:r>
            <a:endParaRPr lang="en-US" sz="750" dirty="0"/>
          </a:p>
        </p:txBody>
      </p:sp>
      <p:sp>
        <p:nvSpPr>
          <p:cNvPr id="37" name="Text 35"/>
          <p:cNvSpPr/>
          <p:nvPr/>
        </p:nvSpPr>
        <p:spPr>
          <a:xfrm>
            <a:off x="6281738" y="3874145"/>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10,000</a:t>
            </a:r>
            <a:endParaRPr lang="en-US" sz="750" dirty="0"/>
          </a:p>
        </p:txBody>
      </p:sp>
      <p:sp>
        <p:nvSpPr>
          <p:cNvPr id="38" name="Shape 36"/>
          <p:cNvSpPr/>
          <p:nvPr/>
        </p:nvSpPr>
        <p:spPr>
          <a:xfrm>
            <a:off x="544785" y="4040386"/>
            <a:ext cx="8054429" cy="207169"/>
          </a:xfrm>
          <a:prstGeom prst="rect">
            <a:avLst/>
          </a:prstGeom>
          <a:solidFill>
            <a:srgbClr val="000000">
              <a:alpha val="4000"/>
            </a:srgbClr>
          </a:solidFill>
          <a:ln/>
        </p:spPr>
      </p:sp>
      <p:sp>
        <p:nvSpPr>
          <p:cNvPr id="39" name="Text 37"/>
          <p:cNvSpPr/>
          <p:nvPr/>
        </p:nvSpPr>
        <p:spPr>
          <a:xfrm>
            <a:off x="641300" y="4081314"/>
            <a:ext cx="5899993"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Project Delivery &amp; Handover Preparation</a:t>
            </a:r>
            <a:endParaRPr lang="en-US" sz="750" dirty="0"/>
          </a:p>
        </p:txBody>
      </p:sp>
      <p:sp>
        <p:nvSpPr>
          <p:cNvPr id="40" name="Text 38"/>
          <p:cNvSpPr/>
          <p:nvPr/>
        </p:nvSpPr>
        <p:spPr>
          <a:xfrm>
            <a:off x="6281738" y="4081314"/>
            <a:ext cx="2678237" cy="125313"/>
          </a:xfrm>
          <a:prstGeom prst="rect">
            <a:avLst/>
          </a:prstGeom>
          <a:noFill/>
          <a:ln/>
        </p:spPr>
        <p:txBody>
          <a:bodyPr wrap="none" lIns="0" tIns="0" rIns="0" bIns="0" rtlCol="0" anchor="t"/>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5,000</a:t>
            </a:r>
            <a:endParaRPr lang="en-US" sz="750" dirty="0"/>
          </a:p>
        </p:txBody>
      </p:sp>
      <p:sp>
        <p:nvSpPr>
          <p:cNvPr id="41" name="Text 39"/>
          <p:cNvSpPr/>
          <p:nvPr/>
        </p:nvSpPr>
        <p:spPr>
          <a:xfrm>
            <a:off x="540023" y="4320108"/>
            <a:ext cx="8063954" cy="375940"/>
          </a:xfrm>
          <a:prstGeom prst="rect">
            <a:avLst/>
          </a:prstGeom>
          <a:noFill/>
          <a:ln/>
        </p:spPr>
        <p:txBody>
          <a:bodyPr wrap="square" lIns="0" tIns="0" rIns="0" bIns="0" rtlCol="0" anchor="t">
            <a:normAutofit/>
          </a:bodyPr>
          <a:lstStyle/>
          <a:p>
            <a:pPr marL="0" indent="0" algn="l">
              <a:lnSpc>
                <a:spcPct val="108000"/>
              </a:lnSpc>
              <a:buNone/>
            </a:pPr>
            <a:r>
              <a:rPr lang="en-US" sz="750" dirty="0">
                <a:solidFill>
                  <a:srgbClr val="333F70"/>
                </a:solidFill>
                <a:latin typeface="Open Sans" pitchFamily="34" charset="0"/>
                <a:ea typeface="Open Sans" pitchFamily="34" charset="-122"/>
                <a:cs typeface="Open Sans" pitchFamily="34" charset="-120"/>
              </a:rPr>
              <a:t>The total value of all development services listed above amounts to LKR 180,000. A special project discount of LKR 150,000 has been applied, resulting in a final agreed development fee of LKR 30,000. This discounted rate reflects a commitment to supporting Juice Vibe Waskaduwa's digital growth while maintaining the highest standards of software development quality.</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0023" y="444326"/>
            <a:ext cx="8063954" cy="369168"/>
          </a:xfrm>
          <a:prstGeom prst="rect">
            <a:avLst/>
          </a:prstGeom>
          <a:noFill/>
          <a:ln/>
        </p:spPr>
        <p:txBody>
          <a:bodyPr wrap="none" lIns="0" tIns="0" rIns="0" bIns="0" rtlCol="0" anchor="t"/>
          <a:lstStyle/>
          <a:p>
            <a:pPr marL="0" indent="0" algn="l">
              <a:lnSpc>
                <a:spcPct val="104000"/>
              </a:lnSpc>
              <a:buNone/>
            </a:pPr>
            <a:r>
              <a:rPr lang="en-US" sz="2300" b="1" dirty="0">
                <a:solidFill>
                  <a:srgbClr val="333F70"/>
                </a:solidFill>
                <a:latin typeface="Unbounded Bold" pitchFamily="34" charset="0"/>
                <a:ea typeface="Unbounded Bold" pitchFamily="34" charset="-122"/>
                <a:cs typeface="Unbounded Bold" pitchFamily="34" charset="-120"/>
              </a:rPr>
              <a:t>Project Value Summary</a:t>
            </a:r>
            <a:endParaRPr lang="en-US" sz="2300" dirty="0"/>
          </a:p>
        </p:txBody>
      </p:sp>
      <p:sp>
        <p:nvSpPr>
          <p:cNvPr id="3" name="Text 1"/>
          <p:cNvSpPr/>
          <p:nvPr/>
        </p:nvSpPr>
        <p:spPr>
          <a:xfrm>
            <a:off x="540023" y="994395"/>
            <a:ext cx="8063954" cy="333821"/>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333F70"/>
                </a:solidFill>
                <a:latin typeface="Open Sans" pitchFamily="34" charset="0"/>
                <a:ea typeface="Open Sans" pitchFamily="34" charset="-122"/>
                <a:cs typeface="Open Sans" pitchFamily="34" charset="-120"/>
              </a:rPr>
              <a:t>The financial summary below outlines the total value of the development work, the special discount applied to this project, and the final agreed fee. This invoice represents a significant investment in the digital infrastructure of Juice Vibe Waskaduwa, delivered at a highly competitive rate.</a:t>
            </a:r>
            <a:endParaRPr lang="en-US" sz="900" dirty="0"/>
          </a:p>
        </p:txBody>
      </p:sp>
      <p:sp>
        <p:nvSpPr>
          <p:cNvPr id="4" name="Text 2"/>
          <p:cNvSpPr/>
          <p:nvPr/>
        </p:nvSpPr>
        <p:spPr>
          <a:xfrm>
            <a:off x="540023" y="1488951"/>
            <a:ext cx="2612603" cy="389855"/>
          </a:xfrm>
          <a:prstGeom prst="rect">
            <a:avLst/>
          </a:prstGeom>
          <a:noFill/>
          <a:ln/>
        </p:spPr>
        <p:txBody>
          <a:bodyPr wrap="none" lIns="0" tIns="0" rIns="0" bIns="0" rtlCol="0" anchor="t"/>
          <a:lstStyle/>
          <a:p>
            <a:pPr marL="0" indent="0" algn="ctr">
              <a:lnSpc>
                <a:spcPct val="83000"/>
              </a:lnSpc>
              <a:buNone/>
            </a:pPr>
            <a:r>
              <a:rPr lang="en-US" sz="3050" b="1" dirty="0">
                <a:solidFill>
                  <a:srgbClr val="333F70"/>
                </a:solidFill>
                <a:latin typeface="Unbounded Bold" pitchFamily="34" charset="0"/>
                <a:ea typeface="Unbounded Bold" pitchFamily="34" charset="-122"/>
                <a:cs typeface="Unbounded Bold" pitchFamily="34" charset="-120"/>
              </a:rPr>
              <a:t>180K</a:t>
            </a:r>
            <a:endParaRPr lang="en-US" sz="3050" dirty="0"/>
          </a:p>
        </p:txBody>
      </p:sp>
      <p:sp>
        <p:nvSpPr>
          <p:cNvPr id="5" name="Text 3"/>
          <p:cNvSpPr/>
          <p:nvPr/>
        </p:nvSpPr>
        <p:spPr>
          <a:xfrm>
            <a:off x="540023" y="2005608"/>
            <a:ext cx="2612603" cy="184621"/>
          </a:xfrm>
          <a:prstGeom prst="rect">
            <a:avLst/>
          </a:prstGeom>
          <a:noFill/>
          <a:ln/>
        </p:spPr>
        <p:txBody>
          <a:bodyPr wrap="none" lIns="0" tIns="0" rIns="0" bIns="0" rtlCol="0" anchor="t"/>
          <a:lstStyle/>
          <a:p>
            <a:pPr marL="0" indent="0" algn="ctr">
              <a:lnSpc>
                <a:spcPct val="104000"/>
              </a:lnSpc>
              <a:buNone/>
            </a:pPr>
            <a:r>
              <a:rPr lang="en-US" sz="1150" b="1" dirty="0">
                <a:solidFill>
                  <a:srgbClr val="333F70"/>
                </a:solidFill>
                <a:latin typeface="Unbounded Bold" pitchFamily="34" charset="0"/>
                <a:ea typeface="Unbounded Bold" pitchFamily="34" charset="-122"/>
                <a:cs typeface="Unbounded Bold" pitchFamily="34" charset="-120"/>
              </a:rPr>
              <a:t>Total Development Value</a:t>
            </a:r>
            <a:endParaRPr lang="en-US" sz="1150" dirty="0"/>
          </a:p>
        </p:txBody>
      </p:sp>
      <p:sp>
        <p:nvSpPr>
          <p:cNvPr id="6" name="Text 4"/>
          <p:cNvSpPr/>
          <p:nvPr/>
        </p:nvSpPr>
        <p:spPr>
          <a:xfrm>
            <a:off x="540023" y="2244477"/>
            <a:ext cx="2612603" cy="333821"/>
          </a:xfrm>
          <a:prstGeom prst="rect">
            <a:avLst/>
          </a:prstGeom>
          <a:noFill/>
          <a:ln/>
        </p:spPr>
        <p:txBody>
          <a:bodyPr wrap="square" lIns="0" tIns="0" rIns="0" bIns="0" rtlCol="0" anchor="t">
            <a:normAutofit/>
          </a:bodyPr>
          <a:lstStyle/>
          <a:p>
            <a:pPr marL="0" indent="0" algn="ctr">
              <a:lnSpc>
                <a:spcPct val="118000"/>
              </a:lnSpc>
              <a:buNone/>
            </a:pPr>
            <a:r>
              <a:rPr lang="en-US" sz="900" dirty="0">
                <a:solidFill>
                  <a:srgbClr val="333F70"/>
                </a:solidFill>
                <a:latin typeface="Open Sans" pitchFamily="34" charset="0"/>
                <a:ea typeface="Open Sans" pitchFamily="34" charset="-122"/>
                <a:cs typeface="Open Sans" pitchFamily="34" charset="-120"/>
              </a:rPr>
              <a:t>Full value of all development services before discount (LKR)</a:t>
            </a:r>
            <a:endParaRPr lang="en-US" sz="900" dirty="0"/>
          </a:p>
        </p:txBody>
      </p:sp>
      <p:sp>
        <p:nvSpPr>
          <p:cNvPr id="7" name="Text 5"/>
          <p:cNvSpPr/>
          <p:nvPr/>
        </p:nvSpPr>
        <p:spPr>
          <a:xfrm>
            <a:off x="3265661" y="1488951"/>
            <a:ext cx="2612603" cy="389855"/>
          </a:xfrm>
          <a:prstGeom prst="rect">
            <a:avLst/>
          </a:prstGeom>
          <a:noFill/>
          <a:ln/>
        </p:spPr>
        <p:txBody>
          <a:bodyPr wrap="none" lIns="0" tIns="0" rIns="0" bIns="0" rtlCol="0" anchor="t"/>
          <a:lstStyle/>
          <a:p>
            <a:pPr marL="0" indent="0" algn="ctr">
              <a:lnSpc>
                <a:spcPct val="83000"/>
              </a:lnSpc>
              <a:buNone/>
            </a:pPr>
            <a:r>
              <a:rPr lang="en-US" sz="3050" b="1" dirty="0">
                <a:solidFill>
                  <a:srgbClr val="333F70"/>
                </a:solidFill>
                <a:latin typeface="Unbounded Bold" pitchFamily="34" charset="0"/>
                <a:ea typeface="Unbounded Bold" pitchFamily="34" charset="-122"/>
                <a:cs typeface="Unbounded Bold" pitchFamily="34" charset="-120"/>
              </a:rPr>
              <a:t>150K</a:t>
            </a:r>
            <a:endParaRPr lang="en-US" sz="3050" dirty="0"/>
          </a:p>
        </p:txBody>
      </p:sp>
      <p:sp>
        <p:nvSpPr>
          <p:cNvPr id="8" name="Text 6"/>
          <p:cNvSpPr/>
          <p:nvPr/>
        </p:nvSpPr>
        <p:spPr>
          <a:xfrm>
            <a:off x="3265661" y="2005608"/>
            <a:ext cx="2612603" cy="184621"/>
          </a:xfrm>
          <a:prstGeom prst="rect">
            <a:avLst/>
          </a:prstGeom>
          <a:noFill/>
          <a:ln/>
        </p:spPr>
        <p:txBody>
          <a:bodyPr wrap="none" lIns="0" tIns="0" rIns="0" bIns="0" rtlCol="0" anchor="t"/>
          <a:lstStyle/>
          <a:p>
            <a:pPr marL="0" indent="0" algn="ctr">
              <a:lnSpc>
                <a:spcPct val="104000"/>
              </a:lnSpc>
              <a:buNone/>
            </a:pPr>
            <a:r>
              <a:rPr lang="en-US" sz="1150" b="1" dirty="0">
                <a:solidFill>
                  <a:srgbClr val="333F70"/>
                </a:solidFill>
                <a:latin typeface="Unbounded Bold" pitchFamily="34" charset="0"/>
                <a:ea typeface="Unbounded Bold" pitchFamily="34" charset="-122"/>
                <a:cs typeface="Unbounded Bold" pitchFamily="34" charset="-120"/>
              </a:rPr>
              <a:t>Special Project Discount</a:t>
            </a:r>
            <a:endParaRPr lang="en-US" sz="1150" dirty="0"/>
          </a:p>
        </p:txBody>
      </p:sp>
      <p:sp>
        <p:nvSpPr>
          <p:cNvPr id="9" name="Text 7"/>
          <p:cNvSpPr/>
          <p:nvPr/>
        </p:nvSpPr>
        <p:spPr>
          <a:xfrm>
            <a:off x="3265661" y="2244477"/>
            <a:ext cx="2612603" cy="166911"/>
          </a:xfrm>
          <a:prstGeom prst="rect">
            <a:avLst/>
          </a:prstGeom>
          <a:noFill/>
          <a:ln/>
        </p:spPr>
        <p:txBody>
          <a:bodyPr wrap="none" lIns="0" tIns="0" rIns="0" bIns="0" rtlCol="0" anchor="t"/>
          <a:lstStyle/>
          <a:p>
            <a:pPr marL="0" indent="0" algn="ctr">
              <a:lnSpc>
                <a:spcPct val="118000"/>
              </a:lnSpc>
              <a:buNone/>
            </a:pPr>
            <a:r>
              <a:rPr lang="en-US" sz="900" dirty="0">
                <a:solidFill>
                  <a:srgbClr val="333F70"/>
                </a:solidFill>
                <a:latin typeface="Open Sans" pitchFamily="34" charset="0"/>
                <a:ea typeface="Open Sans" pitchFamily="34" charset="-122"/>
                <a:cs typeface="Open Sans" pitchFamily="34" charset="-120"/>
              </a:rPr>
              <a:t>Discount applied to this project (LKR)</a:t>
            </a:r>
            <a:endParaRPr lang="en-US" sz="900" dirty="0"/>
          </a:p>
        </p:txBody>
      </p:sp>
      <p:sp>
        <p:nvSpPr>
          <p:cNvPr id="10" name="Text 8"/>
          <p:cNvSpPr/>
          <p:nvPr/>
        </p:nvSpPr>
        <p:spPr>
          <a:xfrm>
            <a:off x="5991299" y="1488951"/>
            <a:ext cx="2612603" cy="389855"/>
          </a:xfrm>
          <a:prstGeom prst="rect">
            <a:avLst/>
          </a:prstGeom>
          <a:noFill/>
          <a:ln/>
        </p:spPr>
        <p:txBody>
          <a:bodyPr wrap="none" lIns="0" tIns="0" rIns="0" bIns="0" rtlCol="0" anchor="t"/>
          <a:lstStyle/>
          <a:p>
            <a:pPr marL="0" indent="0" algn="ctr">
              <a:lnSpc>
                <a:spcPct val="83000"/>
              </a:lnSpc>
              <a:buNone/>
            </a:pPr>
            <a:r>
              <a:rPr lang="en-US" sz="3050" b="1" dirty="0">
                <a:solidFill>
                  <a:srgbClr val="333F70"/>
                </a:solidFill>
                <a:latin typeface="Unbounded Bold" pitchFamily="34" charset="0"/>
                <a:ea typeface="Unbounded Bold" pitchFamily="34" charset="-122"/>
                <a:cs typeface="Unbounded Bold" pitchFamily="34" charset="-120"/>
              </a:rPr>
              <a:t>30K</a:t>
            </a:r>
            <a:endParaRPr lang="en-US" sz="3050" dirty="0"/>
          </a:p>
        </p:txBody>
      </p:sp>
      <p:sp>
        <p:nvSpPr>
          <p:cNvPr id="11" name="Text 9"/>
          <p:cNvSpPr/>
          <p:nvPr/>
        </p:nvSpPr>
        <p:spPr>
          <a:xfrm>
            <a:off x="5991299" y="2005608"/>
            <a:ext cx="2612603" cy="184621"/>
          </a:xfrm>
          <a:prstGeom prst="rect">
            <a:avLst/>
          </a:prstGeom>
          <a:noFill/>
          <a:ln/>
        </p:spPr>
        <p:txBody>
          <a:bodyPr wrap="none" lIns="0" tIns="0" rIns="0" bIns="0" rtlCol="0" anchor="t"/>
          <a:lstStyle/>
          <a:p>
            <a:pPr marL="0" indent="0" algn="ctr">
              <a:lnSpc>
                <a:spcPct val="104000"/>
              </a:lnSpc>
              <a:buNone/>
            </a:pPr>
            <a:r>
              <a:rPr lang="en-US" sz="1150" b="1" dirty="0">
                <a:solidFill>
                  <a:srgbClr val="333F70"/>
                </a:solidFill>
                <a:latin typeface="Unbounded Bold" pitchFamily="34" charset="0"/>
                <a:ea typeface="Unbounded Bold" pitchFamily="34" charset="-122"/>
                <a:cs typeface="Unbounded Bold" pitchFamily="34" charset="-120"/>
              </a:rPr>
              <a:t>Final Agreed Fee</a:t>
            </a:r>
            <a:endParaRPr lang="en-US" sz="1150" dirty="0"/>
          </a:p>
        </p:txBody>
      </p:sp>
      <p:sp>
        <p:nvSpPr>
          <p:cNvPr id="12" name="Text 10"/>
          <p:cNvSpPr/>
          <p:nvPr/>
        </p:nvSpPr>
        <p:spPr>
          <a:xfrm>
            <a:off x="5991299" y="2244477"/>
            <a:ext cx="2612603" cy="166911"/>
          </a:xfrm>
          <a:prstGeom prst="rect">
            <a:avLst/>
          </a:prstGeom>
          <a:noFill/>
          <a:ln/>
        </p:spPr>
        <p:txBody>
          <a:bodyPr wrap="none" lIns="0" tIns="0" rIns="0" bIns="0" rtlCol="0" anchor="t"/>
          <a:lstStyle/>
          <a:p>
            <a:pPr marL="0" indent="0" algn="ctr">
              <a:lnSpc>
                <a:spcPct val="118000"/>
              </a:lnSpc>
              <a:buNone/>
            </a:pPr>
            <a:r>
              <a:rPr lang="en-US" sz="900" dirty="0">
                <a:solidFill>
                  <a:srgbClr val="333F70"/>
                </a:solidFill>
                <a:latin typeface="Open Sans" pitchFamily="34" charset="0"/>
                <a:ea typeface="Open Sans" pitchFamily="34" charset="-122"/>
                <a:cs typeface="Open Sans" pitchFamily="34" charset="-120"/>
              </a:rPr>
              <a:t>Total amount payable after discount (LKR)</a:t>
            </a:r>
            <a:endParaRPr lang="en-US" sz="900" dirty="0"/>
          </a:p>
        </p:txBody>
      </p:sp>
      <p:sp>
        <p:nvSpPr>
          <p:cNvPr id="13" name="Shape 11"/>
          <p:cNvSpPr/>
          <p:nvPr/>
        </p:nvSpPr>
        <p:spPr>
          <a:xfrm>
            <a:off x="454968" y="2680022"/>
            <a:ext cx="4058022" cy="1352848"/>
          </a:xfrm>
          <a:prstGeom prst="roundRect">
            <a:avLst>
              <a:gd name="adj" fmla="val 6288"/>
            </a:avLst>
          </a:prstGeom>
          <a:solidFill>
            <a:srgbClr val="26A688"/>
          </a:solidFill>
          <a:ln/>
        </p:spPr>
      </p:sp>
      <p:sp>
        <p:nvSpPr>
          <p:cNvPr id="14" name="Text 12"/>
          <p:cNvSpPr/>
          <p:nvPr/>
        </p:nvSpPr>
        <p:spPr>
          <a:xfrm>
            <a:off x="573063" y="2770436"/>
            <a:ext cx="3821832" cy="184621"/>
          </a:xfrm>
          <a:prstGeom prst="rect">
            <a:avLst/>
          </a:prstGeom>
          <a:noFill/>
          <a:ln/>
        </p:spPr>
        <p:txBody>
          <a:bodyPr wrap="none" lIns="0" tIns="0" rIns="0" bIns="0" rtlCol="0" anchor="t"/>
          <a:lstStyle/>
          <a:p>
            <a:pPr marL="0" indent="0" algn="l">
              <a:lnSpc>
                <a:spcPct val="104000"/>
              </a:lnSpc>
              <a:buNone/>
            </a:pPr>
            <a:r>
              <a:rPr lang="en-US" sz="1150" b="1" dirty="0">
                <a:solidFill>
                  <a:srgbClr val="000000"/>
                </a:solidFill>
                <a:latin typeface="Unbounded Bold" pitchFamily="34" charset="0"/>
                <a:ea typeface="Unbounded Bold" pitchFamily="34" charset="-122"/>
                <a:cs typeface="Unbounded Bold" pitchFamily="34" charset="-120"/>
              </a:rPr>
              <a:t>Advance Payment</a:t>
            </a:r>
            <a:endParaRPr lang="en-US" sz="1150" dirty="0"/>
          </a:p>
        </p:txBody>
      </p:sp>
      <p:sp>
        <p:nvSpPr>
          <p:cNvPr id="15" name="Text 13"/>
          <p:cNvSpPr/>
          <p:nvPr/>
        </p:nvSpPr>
        <p:spPr>
          <a:xfrm>
            <a:off x="573063" y="2991222"/>
            <a:ext cx="3821832" cy="369168"/>
          </a:xfrm>
          <a:prstGeom prst="rect">
            <a:avLst/>
          </a:prstGeom>
          <a:noFill/>
          <a:ln/>
        </p:spPr>
        <p:txBody>
          <a:bodyPr wrap="none" lIns="0" tIns="0" rIns="0" bIns="0" rtlCol="0" anchor="t"/>
          <a:lstStyle/>
          <a:p>
            <a:pPr marL="0" indent="0" algn="l">
              <a:lnSpc>
                <a:spcPct val="104000"/>
              </a:lnSpc>
              <a:buNone/>
            </a:pPr>
            <a:r>
              <a:rPr lang="en-US" sz="2300" b="1" dirty="0">
                <a:solidFill>
                  <a:srgbClr val="000000"/>
                </a:solidFill>
                <a:latin typeface="Unbounded Bold" pitchFamily="34" charset="0"/>
                <a:ea typeface="Unbounded Bold" pitchFamily="34" charset="-122"/>
                <a:cs typeface="Unbounded Bold" pitchFamily="34" charset="-120"/>
              </a:rPr>
              <a:t>LKR 10,000</a:t>
            </a:r>
            <a:endParaRPr lang="en-US" sz="2300" dirty="0"/>
          </a:p>
        </p:txBody>
      </p:sp>
      <p:sp>
        <p:nvSpPr>
          <p:cNvPr id="16" name="Text 14"/>
          <p:cNvSpPr/>
          <p:nvPr/>
        </p:nvSpPr>
        <p:spPr>
          <a:xfrm>
            <a:off x="573063" y="3450803"/>
            <a:ext cx="3821832" cy="500732"/>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000000"/>
                </a:solidFill>
                <a:latin typeface="Open Sans" pitchFamily="34" charset="0"/>
                <a:ea typeface="Open Sans" pitchFamily="34" charset="-122"/>
                <a:cs typeface="Open Sans" pitchFamily="34" charset="-120"/>
              </a:rPr>
              <a:t>Required to confirm project approval and continue development work. This payment covers the initial phase of implementation, testing, and final preparation.</a:t>
            </a:r>
            <a:endParaRPr lang="en-US" sz="900" dirty="0"/>
          </a:p>
        </p:txBody>
      </p:sp>
      <p:sp>
        <p:nvSpPr>
          <p:cNvPr id="17" name="Text 15"/>
          <p:cNvSpPr/>
          <p:nvPr/>
        </p:nvSpPr>
        <p:spPr>
          <a:xfrm>
            <a:off x="4720828" y="2770436"/>
            <a:ext cx="3887912" cy="184621"/>
          </a:xfrm>
          <a:prstGeom prst="rect">
            <a:avLst/>
          </a:prstGeom>
          <a:noFill/>
          <a:ln/>
        </p:spPr>
        <p:txBody>
          <a:bodyPr wrap="none" lIns="0" tIns="0" rIns="0" bIns="0" rtlCol="0" anchor="t"/>
          <a:lstStyle/>
          <a:p>
            <a:pPr marL="0" indent="0" algn="l">
              <a:lnSpc>
                <a:spcPct val="104000"/>
              </a:lnSpc>
              <a:buNone/>
            </a:pPr>
            <a:r>
              <a:rPr lang="en-US" sz="1150" b="1" dirty="0">
                <a:solidFill>
                  <a:srgbClr val="333F70"/>
                </a:solidFill>
                <a:latin typeface="Unbounded Bold" pitchFamily="34" charset="0"/>
                <a:ea typeface="Unbounded Bold" pitchFamily="34" charset="-122"/>
                <a:cs typeface="Unbounded Bold" pitchFamily="34" charset="-120"/>
              </a:rPr>
              <a:t>Remaining Balance</a:t>
            </a:r>
            <a:endParaRPr lang="en-US" sz="1150" dirty="0"/>
          </a:p>
        </p:txBody>
      </p:sp>
      <p:sp>
        <p:nvSpPr>
          <p:cNvPr id="18" name="Text 16"/>
          <p:cNvSpPr/>
          <p:nvPr/>
        </p:nvSpPr>
        <p:spPr>
          <a:xfrm>
            <a:off x="4720828" y="2991222"/>
            <a:ext cx="3887912" cy="369168"/>
          </a:xfrm>
          <a:prstGeom prst="rect">
            <a:avLst/>
          </a:prstGeom>
          <a:noFill/>
          <a:ln/>
        </p:spPr>
        <p:txBody>
          <a:bodyPr wrap="none" lIns="0" tIns="0" rIns="0" bIns="0" rtlCol="0" anchor="t"/>
          <a:lstStyle/>
          <a:p>
            <a:pPr marL="0" indent="0" algn="l">
              <a:lnSpc>
                <a:spcPct val="104000"/>
              </a:lnSpc>
              <a:buNone/>
            </a:pPr>
            <a:r>
              <a:rPr lang="en-US" sz="2300" b="1" dirty="0">
                <a:solidFill>
                  <a:srgbClr val="333F70"/>
                </a:solidFill>
                <a:latin typeface="Unbounded Bold" pitchFamily="34" charset="0"/>
                <a:ea typeface="Unbounded Bold" pitchFamily="34" charset="-122"/>
                <a:cs typeface="Unbounded Bold" pitchFamily="34" charset="-120"/>
              </a:rPr>
              <a:t>LKR 20,000</a:t>
            </a:r>
            <a:endParaRPr lang="en-US" sz="2300" dirty="0"/>
          </a:p>
        </p:txBody>
      </p:sp>
      <p:sp>
        <p:nvSpPr>
          <p:cNvPr id="19" name="Text 17"/>
          <p:cNvSpPr/>
          <p:nvPr/>
        </p:nvSpPr>
        <p:spPr>
          <a:xfrm>
            <a:off x="4720828" y="3450803"/>
            <a:ext cx="3887912" cy="500732"/>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333F70"/>
                </a:solidFill>
                <a:latin typeface="Open Sans" pitchFamily="34" charset="0"/>
                <a:ea typeface="Open Sans" pitchFamily="34" charset="-122"/>
                <a:cs typeface="Open Sans" pitchFamily="34" charset="-120"/>
              </a:rPr>
              <a:t>Payable after successful project completion and before final delivery. Full handover of software, credentials, and documentation occurs upon receipt of this payment.</a:t>
            </a:r>
            <a:endParaRPr lang="en-US" sz="900" dirty="0"/>
          </a:p>
        </p:txBody>
      </p:sp>
      <p:sp>
        <p:nvSpPr>
          <p:cNvPr id="20" name="Shape 18"/>
          <p:cNvSpPr/>
          <p:nvPr/>
        </p:nvSpPr>
        <p:spPr>
          <a:xfrm>
            <a:off x="540023" y="4134594"/>
            <a:ext cx="8063954" cy="564505"/>
          </a:xfrm>
          <a:prstGeom prst="roundRect">
            <a:avLst>
              <a:gd name="adj" fmla="val 8790"/>
            </a:avLst>
          </a:prstGeom>
          <a:solidFill>
            <a:srgbClr val="D6F5EE"/>
          </a:solidFill>
          <a:ln/>
        </p:spPr>
      </p:sp>
      <p:pic>
        <p:nvPicPr>
          <p:cNvPr id="21" name="Image 0" descr="preencoded.png"/>
          <p:cNvPicPr>
            <a:picLocks noChangeAspect="1"/>
          </p:cNvPicPr>
          <p:nvPr/>
        </p:nvPicPr>
        <p:blipFill>
          <a:blip r:embed="rId3"/>
          <a:stretch>
            <a:fillRect/>
          </a:stretch>
        </p:blipFill>
        <p:spPr>
          <a:xfrm>
            <a:off x="658118" y="4293096"/>
            <a:ext cx="147637" cy="118095"/>
          </a:xfrm>
          <a:prstGeom prst="rect">
            <a:avLst/>
          </a:prstGeom>
        </p:spPr>
      </p:pic>
      <p:sp>
        <p:nvSpPr>
          <p:cNvPr id="22" name="Text 19"/>
          <p:cNvSpPr/>
          <p:nvPr/>
        </p:nvSpPr>
        <p:spPr>
          <a:xfrm>
            <a:off x="923851" y="4254475"/>
            <a:ext cx="7562031" cy="333821"/>
          </a:xfrm>
          <a:prstGeom prst="rect">
            <a:avLst/>
          </a:prstGeom>
          <a:noFill/>
          <a:ln/>
        </p:spPr>
        <p:txBody>
          <a:bodyPr wrap="square" lIns="0" tIns="0" rIns="0" bIns="0" rtlCol="0" anchor="t">
            <a:normAutofit/>
          </a:bodyPr>
          <a:lstStyle/>
          <a:p>
            <a:pPr marL="0" indent="0" algn="l">
              <a:lnSpc>
                <a:spcPct val="118000"/>
              </a:lnSpc>
              <a:buNone/>
            </a:pPr>
            <a:r>
              <a:rPr lang="en-US" sz="900" dirty="0">
                <a:solidFill>
                  <a:srgbClr val="000000"/>
                </a:solidFill>
                <a:latin typeface="Open Sans" pitchFamily="34" charset="0"/>
                <a:ea typeface="Open Sans" pitchFamily="34" charset="-122"/>
                <a:cs typeface="Open Sans" pitchFamily="34" charset="-120"/>
              </a:rPr>
              <a:t>The advance payment of LKR 10,000 confirms client approval of the project scope, agreement to proceed with development, reservation of development time, and authorization to continue implementation, testing, and final preparation activities.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0023" y="448047"/>
            <a:ext cx="8063954" cy="339030"/>
          </a:xfrm>
          <a:prstGeom prst="rect">
            <a:avLst/>
          </a:prstGeom>
          <a:noFill/>
          <a:ln/>
        </p:spPr>
        <p:txBody>
          <a:bodyPr wrap="none" lIns="0" tIns="0" rIns="0" bIns="0" rtlCol="0" anchor="t"/>
          <a:lstStyle/>
          <a:p>
            <a:pPr marL="0" indent="0" algn="l">
              <a:lnSpc>
                <a:spcPct val="104000"/>
              </a:lnSpc>
              <a:buNone/>
            </a:pPr>
            <a:r>
              <a:rPr lang="en-US" sz="2100" b="1" dirty="0">
                <a:solidFill>
                  <a:srgbClr val="333F70"/>
                </a:solidFill>
                <a:latin typeface="Unbounded Bold" pitchFamily="34" charset="0"/>
                <a:ea typeface="Unbounded Bold" pitchFamily="34" charset="-122"/>
                <a:cs typeface="Unbounded Bold" pitchFamily="34" charset="-120"/>
              </a:rPr>
              <a:t>Project Workflow</a:t>
            </a:r>
            <a:endParaRPr lang="en-US" sz="2100" dirty="0"/>
          </a:p>
        </p:txBody>
      </p:sp>
      <p:sp>
        <p:nvSpPr>
          <p:cNvPr id="3" name="Text 1"/>
          <p:cNvSpPr/>
          <p:nvPr/>
        </p:nvSpPr>
        <p:spPr>
          <a:xfrm>
            <a:off x="540023" y="939626"/>
            <a:ext cx="8063954" cy="443359"/>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333F70"/>
                </a:solidFill>
                <a:latin typeface="Open Sans" pitchFamily="34" charset="0"/>
                <a:ea typeface="Open Sans" pitchFamily="34" charset="-122"/>
                <a:cs typeface="Open Sans" pitchFamily="34" charset="-120"/>
              </a:rPr>
              <a:t>The project follows a clear, four-step workflow designed to ensure transparency, mutual agreement, and timely delivery at every stage. This structured approach protects both the client and the developer by establishing clear milestones and expectations before work proceeds. Each step builds on the previous one, creating a logical progression from initial approval through to final delivery and project acceptance.</a:t>
            </a:r>
            <a:endParaRPr lang="en-US" sz="850" dirty="0"/>
          </a:p>
        </p:txBody>
      </p:sp>
      <p:sp>
        <p:nvSpPr>
          <p:cNvPr id="4" name="Shape 2"/>
          <p:cNvSpPr/>
          <p:nvPr/>
        </p:nvSpPr>
        <p:spPr>
          <a:xfrm>
            <a:off x="4564856" y="1468785"/>
            <a:ext cx="14288" cy="2549649"/>
          </a:xfrm>
          <a:prstGeom prst="roundRect">
            <a:avLst>
              <a:gd name="adj" fmla="val 318926"/>
            </a:avLst>
          </a:prstGeom>
          <a:solidFill>
            <a:srgbClr val="BCDBD4"/>
          </a:solidFill>
          <a:ln/>
        </p:spPr>
      </p:sp>
      <p:sp>
        <p:nvSpPr>
          <p:cNvPr id="5" name="Shape 3"/>
          <p:cNvSpPr/>
          <p:nvPr/>
        </p:nvSpPr>
        <p:spPr>
          <a:xfrm>
            <a:off x="4138761" y="1583680"/>
            <a:ext cx="325487" cy="14288"/>
          </a:xfrm>
          <a:prstGeom prst="roundRect">
            <a:avLst>
              <a:gd name="adj" fmla="val 318926"/>
            </a:avLst>
          </a:prstGeom>
          <a:solidFill>
            <a:srgbClr val="BCDBD4"/>
          </a:solidFill>
          <a:ln/>
        </p:spPr>
      </p:sp>
      <p:sp>
        <p:nvSpPr>
          <p:cNvPr id="6" name="Shape 4"/>
          <p:cNvSpPr/>
          <p:nvPr/>
        </p:nvSpPr>
        <p:spPr>
          <a:xfrm>
            <a:off x="4449961" y="1468785"/>
            <a:ext cx="244078" cy="244078"/>
          </a:xfrm>
          <a:prstGeom prst="roundRect">
            <a:avLst>
              <a:gd name="adj" fmla="val 18670"/>
            </a:avLst>
          </a:prstGeom>
          <a:solidFill>
            <a:srgbClr val="D6F5EE"/>
          </a:solidFill>
          <a:ln w="4763">
            <a:solidFill>
              <a:srgbClr val="BCDBD4"/>
            </a:solidFill>
            <a:prstDash val="solid"/>
          </a:ln>
        </p:spPr>
      </p:sp>
      <p:sp>
        <p:nvSpPr>
          <p:cNvPr id="7" name="Text 5"/>
          <p:cNvSpPr/>
          <p:nvPr/>
        </p:nvSpPr>
        <p:spPr>
          <a:xfrm>
            <a:off x="4490628" y="1489137"/>
            <a:ext cx="162744" cy="203374"/>
          </a:xfrm>
          <a:prstGeom prst="rect">
            <a:avLst/>
          </a:prstGeom>
          <a:noFill/>
          <a:ln/>
        </p:spPr>
        <p:txBody>
          <a:bodyPr wrap="none" lIns="0" tIns="0" rIns="0" bIns="0" rtlCol="0" anchor="ctr"/>
          <a:lstStyle/>
          <a:p>
            <a:pPr marL="0" indent="0" algn="ctr">
              <a:lnSpc>
                <a:spcPct val="100000"/>
              </a:lnSpc>
              <a:buNone/>
            </a:pPr>
            <a:r>
              <a:rPr lang="en-US" sz="1250" b="1" dirty="0">
                <a:solidFill>
                  <a:srgbClr val="333F70"/>
                </a:solidFill>
                <a:latin typeface="Unbounded Bold" pitchFamily="34" charset="0"/>
                <a:ea typeface="Unbounded Bold" pitchFamily="34" charset="-122"/>
                <a:cs typeface="Unbounded Bold" pitchFamily="34" charset="-120"/>
              </a:rPr>
              <a:t>1</a:t>
            </a:r>
            <a:endParaRPr lang="en-US" sz="1250" dirty="0"/>
          </a:p>
        </p:txBody>
      </p:sp>
      <p:sp>
        <p:nvSpPr>
          <p:cNvPr id="8" name="Text 6"/>
          <p:cNvSpPr/>
          <p:nvPr/>
        </p:nvSpPr>
        <p:spPr>
          <a:xfrm>
            <a:off x="540023" y="1506066"/>
            <a:ext cx="3489499" cy="169515"/>
          </a:xfrm>
          <a:prstGeom prst="rect">
            <a:avLst/>
          </a:prstGeom>
          <a:noFill/>
          <a:ln/>
        </p:spPr>
        <p:txBody>
          <a:bodyPr wrap="none" lIns="0" tIns="0" rIns="0" bIns="0" rtlCol="0" anchor="t"/>
          <a:lstStyle/>
          <a:p>
            <a:pPr marL="0" indent="0" algn="r">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Step 1 — Project Approval</a:t>
            </a:r>
            <a:endParaRPr lang="en-US" sz="1050" dirty="0"/>
          </a:p>
        </p:txBody>
      </p:sp>
      <p:sp>
        <p:nvSpPr>
          <p:cNvPr id="9" name="Text 7"/>
          <p:cNvSpPr/>
          <p:nvPr/>
        </p:nvSpPr>
        <p:spPr>
          <a:xfrm>
            <a:off x="540023" y="1721346"/>
            <a:ext cx="3489499" cy="591145"/>
          </a:xfrm>
          <a:prstGeom prst="rect">
            <a:avLst/>
          </a:prstGeom>
          <a:noFill/>
          <a:ln/>
        </p:spPr>
        <p:txBody>
          <a:bodyPr wrap="square" lIns="0" tIns="0" rIns="0" bIns="0" rtlCol="0" anchor="t">
            <a:normAutofit/>
          </a:bodyPr>
          <a:lstStyle/>
          <a:p>
            <a:pPr marL="0" indent="0" algn="r">
              <a:lnSpc>
                <a:spcPct val="114000"/>
              </a:lnSpc>
              <a:buNone/>
            </a:pPr>
            <a:r>
              <a:rPr lang="en-US" sz="850" dirty="0">
                <a:solidFill>
                  <a:srgbClr val="333F70"/>
                </a:solidFill>
                <a:latin typeface="Open Sans" pitchFamily="34" charset="0"/>
                <a:ea typeface="Open Sans" pitchFamily="34" charset="-122"/>
                <a:cs typeface="Open Sans" pitchFamily="34" charset="-120"/>
              </a:rPr>
              <a:t>Client reviews and confirms the project scope, approves this invoice, and agrees to the delivery terms. This step establishes the formal agreement between both parties and authorizes the developer to proceed.</a:t>
            </a:r>
            <a:endParaRPr lang="en-US" sz="850" dirty="0"/>
          </a:p>
        </p:txBody>
      </p:sp>
      <p:sp>
        <p:nvSpPr>
          <p:cNvPr id="10" name="Shape 8"/>
          <p:cNvSpPr/>
          <p:nvPr/>
        </p:nvSpPr>
        <p:spPr>
          <a:xfrm>
            <a:off x="4679752" y="2170212"/>
            <a:ext cx="325487" cy="14288"/>
          </a:xfrm>
          <a:prstGeom prst="roundRect">
            <a:avLst>
              <a:gd name="adj" fmla="val 318926"/>
            </a:avLst>
          </a:prstGeom>
          <a:solidFill>
            <a:srgbClr val="BCDBD4"/>
          </a:solidFill>
          <a:ln/>
        </p:spPr>
      </p:sp>
      <p:sp>
        <p:nvSpPr>
          <p:cNvPr id="11" name="Shape 9"/>
          <p:cNvSpPr/>
          <p:nvPr/>
        </p:nvSpPr>
        <p:spPr>
          <a:xfrm>
            <a:off x="4449961" y="2055316"/>
            <a:ext cx="244078" cy="244078"/>
          </a:xfrm>
          <a:prstGeom prst="roundRect">
            <a:avLst>
              <a:gd name="adj" fmla="val 18670"/>
            </a:avLst>
          </a:prstGeom>
          <a:solidFill>
            <a:srgbClr val="D6F5EE"/>
          </a:solidFill>
          <a:ln w="4763">
            <a:solidFill>
              <a:srgbClr val="BCDBD4"/>
            </a:solidFill>
            <a:prstDash val="solid"/>
          </a:ln>
        </p:spPr>
      </p:sp>
      <p:sp>
        <p:nvSpPr>
          <p:cNvPr id="12" name="Text 10"/>
          <p:cNvSpPr/>
          <p:nvPr/>
        </p:nvSpPr>
        <p:spPr>
          <a:xfrm>
            <a:off x="4490628" y="2075669"/>
            <a:ext cx="162744" cy="203374"/>
          </a:xfrm>
          <a:prstGeom prst="rect">
            <a:avLst/>
          </a:prstGeom>
          <a:noFill/>
          <a:ln/>
        </p:spPr>
        <p:txBody>
          <a:bodyPr wrap="none" lIns="0" tIns="0" rIns="0" bIns="0" rtlCol="0" anchor="ctr"/>
          <a:lstStyle/>
          <a:p>
            <a:pPr marL="0" indent="0" algn="ctr">
              <a:lnSpc>
                <a:spcPct val="100000"/>
              </a:lnSpc>
              <a:buNone/>
            </a:pPr>
            <a:r>
              <a:rPr lang="en-US" sz="1250" b="1" dirty="0">
                <a:solidFill>
                  <a:srgbClr val="333F70"/>
                </a:solidFill>
                <a:latin typeface="Unbounded Bold" pitchFamily="34" charset="0"/>
                <a:ea typeface="Unbounded Bold" pitchFamily="34" charset="-122"/>
                <a:cs typeface="Unbounded Bold" pitchFamily="34" charset="-120"/>
              </a:rPr>
              <a:t>2</a:t>
            </a:r>
            <a:endParaRPr lang="en-US" sz="1250" dirty="0"/>
          </a:p>
        </p:txBody>
      </p:sp>
      <p:sp>
        <p:nvSpPr>
          <p:cNvPr id="13" name="Text 11"/>
          <p:cNvSpPr/>
          <p:nvPr/>
        </p:nvSpPr>
        <p:spPr>
          <a:xfrm>
            <a:off x="5114479" y="2092598"/>
            <a:ext cx="3489499" cy="169515"/>
          </a:xfrm>
          <a:prstGeom prst="rect">
            <a:avLst/>
          </a:prstGeom>
          <a:noFill/>
          <a:ln/>
        </p:spPr>
        <p:txBody>
          <a:bodyPr wrap="none" lIns="0" tIns="0" rIns="0" bIns="0" rtlCol="0" anchor="t"/>
          <a:lstStyle/>
          <a:p>
            <a:pPr marL="0" indent="0" algn="l">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Step 2 — Advance Payment</a:t>
            </a:r>
            <a:endParaRPr lang="en-US" sz="1050" dirty="0"/>
          </a:p>
        </p:txBody>
      </p:sp>
      <p:sp>
        <p:nvSpPr>
          <p:cNvPr id="14" name="Text 12"/>
          <p:cNvSpPr/>
          <p:nvPr/>
        </p:nvSpPr>
        <p:spPr>
          <a:xfrm>
            <a:off x="5114479" y="2307878"/>
            <a:ext cx="3489499" cy="443359"/>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333F70"/>
                </a:solidFill>
                <a:latin typeface="Open Sans" pitchFamily="34" charset="0"/>
                <a:ea typeface="Open Sans" pitchFamily="34" charset="-122"/>
                <a:cs typeface="Open Sans" pitchFamily="34" charset="-120"/>
              </a:rPr>
              <a:t>Client transfers the advance payment of LKR 10,000. This payment confirms commitment to the project, reserves the developer's time, and triggers the continuation of all development activities.</a:t>
            </a:r>
            <a:endParaRPr lang="en-US" sz="850" dirty="0"/>
          </a:p>
        </p:txBody>
      </p:sp>
      <p:sp>
        <p:nvSpPr>
          <p:cNvPr id="15" name="Shape 13"/>
          <p:cNvSpPr/>
          <p:nvPr/>
        </p:nvSpPr>
        <p:spPr>
          <a:xfrm>
            <a:off x="4138761" y="2699072"/>
            <a:ext cx="325487" cy="14288"/>
          </a:xfrm>
          <a:prstGeom prst="roundRect">
            <a:avLst>
              <a:gd name="adj" fmla="val 318926"/>
            </a:avLst>
          </a:prstGeom>
          <a:solidFill>
            <a:srgbClr val="BCDBD4"/>
          </a:solidFill>
          <a:ln/>
        </p:spPr>
      </p:sp>
      <p:sp>
        <p:nvSpPr>
          <p:cNvPr id="16" name="Shape 14"/>
          <p:cNvSpPr/>
          <p:nvPr/>
        </p:nvSpPr>
        <p:spPr>
          <a:xfrm>
            <a:off x="4449961" y="2584177"/>
            <a:ext cx="244078" cy="244078"/>
          </a:xfrm>
          <a:prstGeom prst="roundRect">
            <a:avLst>
              <a:gd name="adj" fmla="val 18670"/>
            </a:avLst>
          </a:prstGeom>
          <a:solidFill>
            <a:srgbClr val="D6F5EE"/>
          </a:solidFill>
          <a:ln w="4763">
            <a:solidFill>
              <a:srgbClr val="BCDBD4"/>
            </a:solidFill>
            <a:prstDash val="solid"/>
          </a:ln>
        </p:spPr>
      </p:sp>
      <p:sp>
        <p:nvSpPr>
          <p:cNvPr id="17" name="Text 15"/>
          <p:cNvSpPr/>
          <p:nvPr/>
        </p:nvSpPr>
        <p:spPr>
          <a:xfrm>
            <a:off x="4490628" y="2604529"/>
            <a:ext cx="162744" cy="203374"/>
          </a:xfrm>
          <a:prstGeom prst="rect">
            <a:avLst/>
          </a:prstGeom>
          <a:noFill/>
          <a:ln/>
        </p:spPr>
        <p:txBody>
          <a:bodyPr wrap="none" lIns="0" tIns="0" rIns="0" bIns="0" rtlCol="0" anchor="ctr"/>
          <a:lstStyle/>
          <a:p>
            <a:pPr marL="0" indent="0" algn="ctr">
              <a:lnSpc>
                <a:spcPct val="100000"/>
              </a:lnSpc>
              <a:buNone/>
            </a:pPr>
            <a:r>
              <a:rPr lang="en-US" sz="1250" b="1" dirty="0">
                <a:solidFill>
                  <a:srgbClr val="333F70"/>
                </a:solidFill>
                <a:latin typeface="Unbounded Bold" pitchFamily="34" charset="0"/>
                <a:ea typeface="Unbounded Bold" pitchFamily="34" charset="-122"/>
                <a:cs typeface="Unbounded Bold" pitchFamily="34" charset="-120"/>
              </a:rPr>
              <a:t>3</a:t>
            </a:r>
            <a:endParaRPr lang="en-US" sz="1250" dirty="0"/>
          </a:p>
        </p:txBody>
      </p:sp>
      <p:sp>
        <p:nvSpPr>
          <p:cNvPr id="18" name="Text 16"/>
          <p:cNvSpPr/>
          <p:nvPr/>
        </p:nvSpPr>
        <p:spPr>
          <a:xfrm>
            <a:off x="540023" y="2621459"/>
            <a:ext cx="3489499" cy="169515"/>
          </a:xfrm>
          <a:prstGeom prst="rect">
            <a:avLst/>
          </a:prstGeom>
          <a:noFill/>
          <a:ln/>
        </p:spPr>
        <p:txBody>
          <a:bodyPr wrap="none" lIns="0" tIns="0" rIns="0" bIns="0" rtlCol="0" anchor="t"/>
          <a:lstStyle/>
          <a:p>
            <a:pPr marL="0" indent="0" algn="r">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Step 3 — Development Continuation</a:t>
            </a:r>
            <a:endParaRPr lang="en-US" sz="1050" dirty="0"/>
          </a:p>
        </p:txBody>
      </p:sp>
      <p:sp>
        <p:nvSpPr>
          <p:cNvPr id="19" name="Text 17"/>
          <p:cNvSpPr/>
          <p:nvPr/>
        </p:nvSpPr>
        <p:spPr>
          <a:xfrm>
            <a:off x="540023" y="2836738"/>
            <a:ext cx="3489499" cy="591145"/>
          </a:xfrm>
          <a:prstGeom prst="rect">
            <a:avLst/>
          </a:prstGeom>
          <a:noFill/>
          <a:ln/>
        </p:spPr>
        <p:txBody>
          <a:bodyPr wrap="square" lIns="0" tIns="0" rIns="0" bIns="0" rtlCol="0" anchor="t">
            <a:normAutofit/>
          </a:bodyPr>
          <a:lstStyle/>
          <a:p>
            <a:pPr marL="0" indent="0" algn="r">
              <a:lnSpc>
                <a:spcPct val="114000"/>
              </a:lnSpc>
              <a:buNone/>
            </a:pPr>
            <a:r>
              <a:rPr lang="en-US" sz="850" dirty="0">
                <a:solidFill>
                  <a:srgbClr val="333F70"/>
                </a:solidFill>
                <a:latin typeface="Open Sans" pitchFamily="34" charset="0"/>
                <a:ea typeface="Open Sans" pitchFamily="34" charset="-122"/>
                <a:cs typeface="Open Sans" pitchFamily="34" charset="-120"/>
              </a:rPr>
              <a:t>After receiving the advance payment, all remaining development work continues — including final implementation, comprehensive testing, improvements based on feedback, deployment preparation, and documentation.</a:t>
            </a:r>
            <a:endParaRPr lang="en-US" sz="850" dirty="0"/>
          </a:p>
        </p:txBody>
      </p:sp>
      <p:sp>
        <p:nvSpPr>
          <p:cNvPr id="20" name="Shape 18"/>
          <p:cNvSpPr/>
          <p:nvPr/>
        </p:nvSpPr>
        <p:spPr>
          <a:xfrm>
            <a:off x="4679752" y="3228008"/>
            <a:ext cx="325487" cy="14288"/>
          </a:xfrm>
          <a:prstGeom prst="roundRect">
            <a:avLst>
              <a:gd name="adj" fmla="val 318926"/>
            </a:avLst>
          </a:prstGeom>
          <a:solidFill>
            <a:srgbClr val="BCDBD4"/>
          </a:solidFill>
          <a:ln/>
        </p:spPr>
      </p:sp>
      <p:sp>
        <p:nvSpPr>
          <p:cNvPr id="21" name="Shape 19"/>
          <p:cNvSpPr/>
          <p:nvPr/>
        </p:nvSpPr>
        <p:spPr>
          <a:xfrm>
            <a:off x="4449961" y="3113112"/>
            <a:ext cx="244078" cy="244078"/>
          </a:xfrm>
          <a:prstGeom prst="roundRect">
            <a:avLst>
              <a:gd name="adj" fmla="val 18670"/>
            </a:avLst>
          </a:prstGeom>
          <a:solidFill>
            <a:srgbClr val="D6F5EE"/>
          </a:solidFill>
          <a:ln w="4763">
            <a:solidFill>
              <a:srgbClr val="BCDBD4"/>
            </a:solidFill>
            <a:prstDash val="solid"/>
          </a:ln>
        </p:spPr>
      </p:sp>
      <p:sp>
        <p:nvSpPr>
          <p:cNvPr id="22" name="Text 20"/>
          <p:cNvSpPr/>
          <p:nvPr/>
        </p:nvSpPr>
        <p:spPr>
          <a:xfrm>
            <a:off x="4490628" y="3133465"/>
            <a:ext cx="162744" cy="203374"/>
          </a:xfrm>
          <a:prstGeom prst="rect">
            <a:avLst/>
          </a:prstGeom>
          <a:noFill/>
          <a:ln/>
        </p:spPr>
        <p:txBody>
          <a:bodyPr wrap="none" lIns="0" tIns="0" rIns="0" bIns="0" rtlCol="0" anchor="ctr"/>
          <a:lstStyle/>
          <a:p>
            <a:pPr marL="0" indent="0" algn="ctr">
              <a:lnSpc>
                <a:spcPct val="100000"/>
              </a:lnSpc>
              <a:buNone/>
            </a:pPr>
            <a:r>
              <a:rPr lang="en-US" sz="1250" b="1" dirty="0">
                <a:solidFill>
                  <a:srgbClr val="333F70"/>
                </a:solidFill>
                <a:latin typeface="Unbounded Bold" pitchFamily="34" charset="0"/>
                <a:ea typeface="Unbounded Bold" pitchFamily="34" charset="-122"/>
                <a:cs typeface="Unbounded Bold" pitchFamily="34" charset="-120"/>
              </a:rPr>
              <a:t>4</a:t>
            </a:r>
            <a:endParaRPr lang="en-US" sz="1250" dirty="0"/>
          </a:p>
        </p:txBody>
      </p:sp>
      <p:sp>
        <p:nvSpPr>
          <p:cNvPr id="23" name="Text 21"/>
          <p:cNvSpPr/>
          <p:nvPr/>
        </p:nvSpPr>
        <p:spPr>
          <a:xfrm>
            <a:off x="5114479" y="3150394"/>
            <a:ext cx="3489499" cy="169515"/>
          </a:xfrm>
          <a:prstGeom prst="rect">
            <a:avLst/>
          </a:prstGeom>
          <a:noFill/>
          <a:ln/>
        </p:spPr>
        <p:txBody>
          <a:bodyPr wrap="none" lIns="0" tIns="0" rIns="0" bIns="0" rtlCol="0" anchor="t"/>
          <a:lstStyle/>
          <a:p>
            <a:pPr marL="0" indent="0" algn="l">
              <a:lnSpc>
                <a:spcPct val="104000"/>
              </a:lnSpc>
              <a:buNone/>
            </a:pPr>
            <a:r>
              <a:rPr lang="en-US" sz="1050" b="1" dirty="0">
                <a:solidFill>
                  <a:srgbClr val="333F70"/>
                </a:solidFill>
                <a:latin typeface="Unbounded Bold" pitchFamily="34" charset="0"/>
                <a:ea typeface="Unbounded Bold" pitchFamily="34" charset="-122"/>
                <a:cs typeface="Unbounded Bold" pitchFamily="34" charset="-120"/>
              </a:rPr>
              <a:t>Step 4 — Final Delivery</a:t>
            </a:r>
            <a:endParaRPr lang="en-US" sz="1050" dirty="0"/>
          </a:p>
        </p:txBody>
      </p:sp>
      <p:sp>
        <p:nvSpPr>
          <p:cNvPr id="24" name="Text 22"/>
          <p:cNvSpPr/>
          <p:nvPr/>
        </p:nvSpPr>
        <p:spPr>
          <a:xfrm>
            <a:off x="5114479" y="3365674"/>
            <a:ext cx="3489499" cy="443359"/>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333F70"/>
                </a:solidFill>
                <a:latin typeface="Open Sans" pitchFamily="34" charset="0"/>
                <a:ea typeface="Open Sans" pitchFamily="34" charset="-122"/>
                <a:cs typeface="Open Sans" pitchFamily="34" charset="-120"/>
              </a:rPr>
              <a:t>Upon project completion, the client transfers the remaining balance of LKR 20,000. Final handover includes software delivery, credentials, full documentation, and formal project acceptance.</a:t>
            </a:r>
            <a:endParaRPr lang="en-US" sz="850" dirty="0"/>
          </a:p>
        </p:txBody>
      </p:sp>
      <p:sp>
        <p:nvSpPr>
          <p:cNvPr id="25" name="Text 23"/>
          <p:cNvSpPr/>
          <p:nvPr/>
        </p:nvSpPr>
        <p:spPr>
          <a:xfrm>
            <a:off x="540023" y="4104233"/>
            <a:ext cx="8063954" cy="591145"/>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333F70"/>
                </a:solidFill>
                <a:latin typeface="Open Sans" pitchFamily="34" charset="0"/>
                <a:ea typeface="Open Sans" pitchFamily="34" charset="-122"/>
                <a:cs typeface="Open Sans" pitchFamily="34" charset="-120"/>
              </a:rPr>
              <a:t>Each phase of this workflow is designed to minimize risk and maximize clarity. The advance payment ensures that development resources are committed and that work can continue without interruption. The final payment, due upon successful completion, ensures that the client receives a fully tested and deployed platform before releasing the remaining balance. This two-phase payment structure is standard practice in software development engagements and provides protection and accountability for both parties throughout the project lifecycle.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0023" y="448494"/>
            <a:ext cx="8063954" cy="361652"/>
          </a:xfrm>
          <a:prstGeom prst="rect">
            <a:avLst/>
          </a:prstGeom>
          <a:noFill/>
          <a:ln/>
        </p:spPr>
        <p:txBody>
          <a:bodyPr wrap="none" lIns="0" tIns="0" rIns="0" bIns="0" rtlCol="0" anchor="t"/>
          <a:lstStyle/>
          <a:p>
            <a:pPr marL="0" indent="0" algn="l">
              <a:lnSpc>
                <a:spcPct val="104000"/>
              </a:lnSpc>
              <a:buNone/>
            </a:pPr>
            <a:r>
              <a:rPr lang="en-US" sz="2250" b="1" dirty="0">
                <a:solidFill>
                  <a:srgbClr val="333F70"/>
                </a:solidFill>
                <a:latin typeface="Unbounded Bold" pitchFamily="34" charset="0"/>
                <a:ea typeface="Unbounded Bold" pitchFamily="34" charset="-122"/>
                <a:cs typeface="Unbounded Bold" pitchFamily="34" charset="-120"/>
              </a:rPr>
              <a:t>Deliverables Included</a:t>
            </a:r>
            <a:endParaRPr lang="en-US" sz="2250" dirty="0"/>
          </a:p>
        </p:txBody>
      </p:sp>
      <p:sp>
        <p:nvSpPr>
          <p:cNvPr id="3" name="Text 1"/>
          <p:cNvSpPr/>
          <p:nvPr/>
        </p:nvSpPr>
        <p:spPr>
          <a:xfrm>
            <a:off x="540023" y="983679"/>
            <a:ext cx="8063954" cy="485998"/>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33F70"/>
                </a:solidFill>
                <a:latin typeface="Open Sans" pitchFamily="34" charset="0"/>
                <a:ea typeface="Open Sans" pitchFamily="34" charset="-122"/>
                <a:cs typeface="Open Sans" pitchFamily="34" charset="-120"/>
              </a:rPr>
              <a:t>The Juice Vibe Waskaduwa Digital Platform includes a comprehensive set of deliverables across four main areas. Each deliverable has been designed and developed to meet professional standards and to provide lasting value to the business. The sections below detail exactly what is included in each area of the platform.</a:t>
            </a:r>
            <a:endParaRPr lang="en-US" sz="9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0023" y="1567309"/>
            <a:ext cx="3988594" cy="1616646"/>
          </a:xfrm>
          <a:prstGeom prst="rect">
            <a:avLst/>
          </a:prstGeom>
        </p:spPr>
      </p:pic>
      <p:sp>
        <p:nvSpPr>
          <p:cNvPr id="5" name="Text 2"/>
          <p:cNvSpPr/>
          <p:nvPr/>
        </p:nvSpPr>
        <p:spPr>
          <a:xfrm>
            <a:off x="727174" y="1697310"/>
            <a:ext cx="3671441" cy="18082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Customer Platform</a:t>
            </a:r>
            <a:endParaRPr lang="en-US" sz="1100" dirty="0"/>
          </a:p>
        </p:txBody>
      </p:sp>
      <p:sp>
        <p:nvSpPr>
          <p:cNvPr id="6" name="Text 3"/>
          <p:cNvSpPr/>
          <p:nvPr/>
        </p:nvSpPr>
        <p:spPr>
          <a:xfrm>
            <a:off x="727174" y="1930152"/>
            <a:ext cx="3671441" cy="1123801"/>
          </a:xfrm>
          <a:prstGeom prst="rect">
            <a:avLst/>
          </a:prstGeom>
          <a:noFill/>
          <a:ln/>
        </p:spPr>
        <p:txBody>
          <a:bodyPr wrap="square" lIns="0" tIns="0" rIns="0" bIns="0" rtlCol="0" anchor="t">
            <a:normAutofit/>
          </a:bodyPr>
          <a:lstStyle/>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Premium responsive website with modern design</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Interactive menu system with categories</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Product display with images and descriptions</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Photo gallery showcasing the brand</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Shopping cart functionality</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Full mobile optimization for all screen sizes</a:t>
            </a:r>
            <a:endParaRPr lang="en-US" sz="9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5383" y="1567309"/>
            <a:ext cx="3988594" cy="1616646"/>
          </a:xfrm>
          <a:prstGeom prst="rect">
            <a:avLst/>
          </a:prstGeom>
        </p:spPr>
      </p:pic>
      <p:sp>
        <p:nvSpPr>
          <p:cNvPr id="8" name="Text 4"/>
          <p:cNvSpPr/>
          <p:nvPr/>
        </p:nvSpPr>
        <p:spPr>
          <a:xfrm>
            <a:off x="4802535" y="1697310"/>
            <a:ext cx="3671441" cy="18082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Admin Management System</a:t>
            </a:r>
            <a:endParaRPr lang="en-US" sz="1100" dirty="0"/>
          </a:p>
        </p:txBody>
      </p:sp>
      <p:sp>
        <p:nvSpPr>
          <p:cNvPr id="9" name="Text 5"/>
          <p:cNvSpPr/>
          <p:nvPr/>
        </p:nvSpPr>
        <p:spPr>
          <a:xfrm>
            <a:off x="4802535" y="1930152"/>
            <a:ext cx="3671441" cy="1123801"/>
          </a:xfrm>
          <a:prstGeom prst="rect">
            <a:avLst/>
          </a:prstGeom>
          <a:noFill/>
          <a:ln/>
        </p:spPr>
        <p:txBody>
          <a:bodyPr wrap="square" lIns="0" tIns="0" rIns="0" bIns="0" rtlCol="0" anchor="t">
            <a:normAutofit/>
          </a:bodyPr>
          <a:lstStyle/>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Dashboard with analytics and insights</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Menu and category management</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Order management interface</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Gallery content management</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Business settings configuration</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User role management and access control</a:t>
            </a:r>
            <a:endParaRPr lang="en-US" sz="9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023" y="3270721"/>
            <a:ext cx="3988594" cy="1424285"/>
          </a:xfrm>
          <a:prstGeom prst="rect">
            <a:avLst/>
          </a:prstGeom>
        </p:spPr>
      </p:pic>
      <p:sp>
        <p:nvSpPr>
          <p:cNvPr id="11" name="Text 6"/>
          <p:cNvSpPr/>
          <p:nvPr/>
        </p:nvSpPr>
        <p:spPr>
          <a:xfrm>
            <a:off x="727174" y="3400723"/>
            <a:ext cx="3671441" cy="18082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Backend System</a:t>
            </a:r>
            <a:endParaRPr lang="en-US" sz="1100" dirty="0"/>
          </a:p>
        </p:txBody>
      </p:sp>
      <p:sp>
        <p:nvSpPr>
          <p:cNvPr id="12" name="Text 7"/>
          <p:cNvSpPr/>
          <p:nvPr/>
        </p:nvSpPr>
        <p:spPr>
          <a:xfrm>
            <a:off x="727174" y="3633564"/>
            <a:ext cx="3671441" cy="931441"/>
          </a:xfrm>
          <a:prstGeom prst="rect">
            <a:avLst/>
          </a:prstGeom>
          <a:noFill/>
          <a:ln/>
        </p:spPr>
        <p:txBody>
          <a:bodyPr wrap="square" lIns="0" tIns="0" rIns="0" bIns="0" rtlCol="0" anchor="t">
            <a:normAutofit/>
          </a:bodyPr>
          <a:lstStyle/>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REST API with full endpoint coverage</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JWT-based authentication and security</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Database integration via Prisma ORM</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Security configuration and hardening</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Swagger API documentation</a:t>
            </a:r>
            <a:endParaRPr lang="en-US" sz="9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5383" y="3270721"/>
            <a:ext cx="3988594" cy="1424285"/>
          </a:xfrm>
          <a:prstGeom prst="rect">
            <a:avLst/>
          </a:prstGeom>
        </p:spPr>
      </p:pic>
      <p:sp>
        <p:nvSpPr>
          <p:cNvPr id="14" name="Text 8"/>
          <p:cNvSpPr/>
          <p:nvPr/>
        </p:nvSpPr>
        <p:spPr>
          <a:xfrm>
            <a:off x="4802535" y="3400723"/>
            <a:ext cx="3671441" cy="18082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Deployment &amp; Infrastructure</a:t>
            </a:r>
            <a:endParaRPr lang="en-US" sz="1100" dirty="0"/>
          </a:p>
        </p:txBody>
      </p:sp>
      <p:sp>
        <p:nvSpPr>
          <p:cNvPr id="15" name="Text 9"/>
          <p:cNvSpPr/>
          <p:nvPr/>
        </p:nvSpPr>
        <p:spPr>
          <a:xfrm>
            <a:off x="4802535" y="3633564"/>
            <a:ext cx="3671441" cy="739080"/>
          </a:xfrm>
          <a:prstGeom prst="rect">
            <a:avLst/>
          </a:prstGeom>
          <a:noFill/>
          <a:ln/>
        </p:spPr>
        <p:txBody>
          <a:bodyPr wrap="square" lIns="0" tIns="0" rIns="0" bIns="0" rtlCol="0" anchor="t">
            <a:normAutofit/>
          </a:bodyPr>
          <a:lstStyle/>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Production deployment on Vercel</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Database setup on Neon PostgreSQL</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Cloud storage configuration via Cloudinary</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Environment configuration and optimization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0023" y="439117"/>
            <a:ext cx="8063954" cy="361652"/>
          </a:xfrm>
          <a:prstGeom prst="rect">
            <a:avLst/>
          </a:prstGeom>
          <a:noFill/>
          <a:ln/>
        </p:spPr>
        <p:txBody>
          <a:bodyPr wrap="none" lIns="0" tIns="0" rIns="0" bIns="0" rtlCol="0" anchor="t"/>
          <a:lstStyle/>
          <a:p>
            <a:pPr marL="0" indent="0" algn="l">
              <a:lnSpc>
                <a:spcPct val="104000"/>
              </a:lnSpc>
              <a:buNone/>
            </a:pPr>
            <a:r>
              <a:rPr lang="en-US" sz="2250" b="1" dirty="0">
                <a:solidFill>
                  <a:srgbClr val="333F70"/>
                </a:solidFill>
                <a:latin typeface="Unbounded Bold" pitchFamily="34" charset="0"/>
                <a:ea typeface="Unbounded Bold" pitchFamily="34" charset="-122"/>
                <a:cs typeface="Unbounded Bold" pitchFamily="34" charset="-120"/>
              </a:rPr>
              <a:t>Warranty &amp; Bug Fix Support</a:t>
            </a:r>
            <a:endParaRPr lang="en-US" sz="2250" dirty="0"/>
          </a:p>
        </p:txBody>
      </p:sp>
      <p:sp>
        <p:nvSpPr>
          <p:cNvPr id="3" name="Text 1"/>
          <p:cNvSpPr/>
          <p:nvPr/>
        </p:nvSpPr>
        <p:spPr>
          <a:xfrm>
            <a:off x="540023" y="974303"/>
            <a:ext cx="8063954" cy="485998"/>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33F70"/>
                </a:solidFill>
                <a:latin typeface="Open Sans" pitchFamily="34" charset="0"/>
                <a:ea typeface="Open Sans" pitchFamily="34" charset="-122"/>
                <a:cs typeface="Open Sans" pitchFamily="34" charset="-120"/>
              </a:rPr>
              <a:t>Every software project requires ongoing support after delivery to ensure it continues functioning as intended. This engagement includes a 30-day free warranty period following final delivery, covering any software bugs or technical issues related to the delivered features. After this period, an optional monthly maintenance plan is available for clients who want continued professional support.</a:t>
            </a:r>
            <a:endParaRPr lang="en-US" sz="900" dirty="0"/>
          </a:p>
        </p:txBody>
      </p:sp>
      <p:sp>
        <p:nvSpPr>
          <p:cNvPr id="4" name="Shape 2"/>
          <p:cNvSpPr/>
          <p:nvPr/>
        </p:nvSpPr>
        <p:spPr>
          <a:xfrm>
            <a:off x="456679" y="1557933"/>
            <a:ext cx="4057501" cy="1910581"/>
          </a:xfrm>
          <a:prstGeom prst="roundRect">
            <a:avLst>
              <a:gd name="adj" fmla="val 4361"/>
            </a:avLst>
          </a:prstGeom>
          <a:solidFill>
            <a:srgbClr val="26A688"/>
          </a:solidFill>
          <a:ln/>
        </p:spPr>
      </p:sp>
      <p:sp>
        <p:nvSpPr>
          <p:cNvPr id="5" name="Text 3"/>
          <p:cNvSpPr/>
          <p:nvPr/>
        </p:nvSpPr>
        <p:spPr>
          <a:xfrm>
            <a:off x="572393" y="1644700"/>
            <a:ext cx="3826073" cy="180826"/>
          </a:xfrm>
          <a:prstGeom prst="rect">
            <a:avLst/>
          </a:prstGeom>
          <a:noFill/>
          <a:ln/>
        </p:spPr>
        <p:txBody>
          <a:bodyPr wrap="none" lIns="0" tIns="0" rIns="0" bIns="0" rtlCol="0" anchor="t"/>
          <a:lstStyle/>
          <a:p>
            <a:pPr marL="0" indent="0" algn="l">
              <a:lnSpc>
                <a:spcPct val="104000"/>
              </a:lnSpc>
              <a:buNone/>
            </a:pPr>
            <a:r>
              <a:rPr lang="en-US" sz="1100" b="1" dirty="0">
                <a:solidFill>
                  <a:srgbClr val="000000"/>
                </a:solidFill>
                <a:latin typeface="Unbounded Bold" pitchFamily="34" charset="0"/>
                <a:ea typeface="Unbounded Bold" pitchFamily="34" charset="-122"/>
                <a:cs typeface="Unbounded Bold" pitchFamily="34" charset="-120"/>
              </a:rPr>
              <a:t>✓ 30-Day Free Warranty</a:t>
            </a:r>
            <a:endParaRPr lang="en-US" sz="1100" dirty="0"/>
          </a:p>
        </p:txBody>
      </p:sp>
      <p:sp>
        <p:nvSpPr>
          <p:cNvPr id="6" name="Text 4"/>
          <p:cNvSpPr/>
          <p:nvPr/>
        </p:nvSpPr>
        <p:spPr>
          <a:xfrm>
            <a:off x="572393" y="1912293"/>
            <a:ext cx="3826073" cy="485998"/>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000000"/>
                </a:solidFill>
                <a:latin typeface="Open Sans" pitchFamily="34" charset="0"/>
                <a:ea typeface="Open Sans" pitchFamily="34" charset="-122"/>
                <a:cs typeface="Open Sans" pitchFamily="34" charset="-120"/>
              </a:rPr>
              <a:t>Included at no additional cost after final delivery. This warranty covers any issues that arise from the delivered features, ensuring the platform works as specified.</a:t>
            </a:r>
            <a:endParaRPr lang="en-US" sz="900" dirty="0"/>
          </a:p>
        </p:txBody>
      </p:sp>
      <p:sp>
        <p:nvSpPr>
          <p:cNvPr id="7" name="Text 5"/>
          <p:cNvSpPr/>
          <p:nvPr/>
        </p:nvSpPr>
        <p:spPr>
          <a:xfrm>
            <a:off x="572393" y="2476351"/>
            <a:ext cx="3826073" cy="546720"/>
          </a:xfrm>
          <a:prstGeom prst="rect">
            <a:avLst/>
          </a:prstGeom>
          <a:noFill/>
          <a:ln/>
        </p:spPr>
        <p:txBody>
          <a:bodyPr wrap="square" lIns="0" tIns="0" rIns="0" bIns="0" rtlCol="0" anchor="t">
            <a:normAutofit/>
          </a:bodyPr>
          <a:lstStyle/>
          <a:p>
            <a:pPr marL="182880" indent="-182880" algn="l">
              <a:lnSpc>
                <a:spcPct val="117000"/>
              </a:lnSpc>
              <a:buSzPct val="100000"/>
              <a:buChar char="•"/>
            </a:pPr>
            <a:r>
              <a:rPr lang="en-US" sz="900" dirty="0">
                <a:solidFill>
                  <a:srgbClr val="000000"/>
                </a:solidFill>
                <a:latin typeface="Open Sans" pitchFamily="34" charset="0"/>
                <a:ea typeface="Open Sans" pitchFamily="34" charset="-122"/>
                <a:cs typeface="Open Sans" pitchFamily="34" charset="-120"/>
              </a:rPr>
              <a:t>Software bug fixes</a:t>
            </a:r>
            <a:endParaRPr lang="en-US" sz="900" dirty="0"/>
          </a:p>
          <a:p>
            <a:pPr marL="182880" indent="-182880" algn="l">
              <a:lnSpc>
                <a:spcPct val="117000"/>
              </a:lnSpc>
              <a:buSzPct val="100000"/>
              <a:buChar char="•"/>
            </a:pPr>
            <a:r>
              <a:rPr lang="en-US" sz="900" dirty="0">
                <a:solidFill>
                  <a:srgbClr val="000000"/>
                </a:solidFill>
                <a:latin typeface="Open Sans" pitchFamily="34" charset="0"/>
                <a:ea typeface="Open Sans" pitchFamily="34" charset="-122"/>
                <a:cs typeface="Open Sans" pitchFamily="34" charset="-120"/>
              </a:rPr>
              <a:t>Technical issues related to delivered features</a:t>
            </a:r>
            <a:endParaRPr lang="en-US" sz="900" dirty="0"/>
          </a:p>
          <a:p>
            <a:pPr marL="182880" indent="-182880" algn="l">
              <a:lnSpc>
                <a:spcPct val="117000"/>
              </a:lnSpc>
              <a:buSzPct val="100000"/>
              <a:buChar char="•"/>
            </a:pPr>
            <a:r>
              <a:rPr lang="en-US" sz="900" dirty="0">
                <a:solidFill>
                  <a:srgbClr val="000000"/>
                </a:solidFill>
                <a:latin typeface="Open Sans" pitchFamily="34" charset="0"/>
                <a:ea typeface="Open Sans" pitchFamily="34" charset="-122"/>
                <a:cs typeface="Open Sans" pitchFamily="34" charset="-120"/>
              </a:rPr>
              <a:t>Deployment assistance</a:t>
            </a:r>
            <a:endParaRPr lang="en-US" sz="900" dirty="0"/>
          </a:p>
        </p:txBody>
      </p:sp>
      <p:sp>
        <p:nvSpPr>
          <p:cNvPr id="8" name="Text 6"/>
          <p:cNvSpPr/>
          <p:nvPr/>
        </p:nvSpPr>
        <p:spPr>
          <a:xfrm>
            <a:off x="4717926" y="1644700"/>
            <a:ext cx="3890814" cy="180826"/>
          </a:xfrm>
          <a:prstGeom prst="rect">
            <a:avLst/>
          </a:prstGeom>
          <a:noFill/>
          <a:ln/>
        </p:spPr>
        <p:txBody>
          <a:bodyPr wrap="none" lIns="0" tIns="0" rIns="0" bIns="0" rtlCol="0" anchor="t"/>
          <a:lstStyle/>
          <a:p>
            <a:pPr marL="0" indent="0" algn="l">
              <a:lnSpc>
                <a:spcPct val="104000"/>
              </a:lnSpc>
              <a:buNone/>
            </a:pPr>
            <a:r>
              <a:rPr lang="en-US" sz="1100" b="1" dirty="0">
                <a:solidFill>
                  <a:srgbClr val="333F70"/>
                </a:solidFill>
                <a:latin typeface="Unbounded Bold" pitchFamily="34" charset="0"/>
                <a:ea typeface="Unbounded Bold" pitchFamily="34" charset="-122"/>
                <a:cs typeface="Unbounded Bold" pitchFamily="34" charset="-120"/>
              </a:rPr>
              <a:t>✗ Not Included in Warranty</a:t>
            </a:r>
            <a:endParaRPr lang="en-US" sz="1100" dirty="0"/>
          </a:p>
        </p:txBody>
      </p:sp>
      <p:sp>
        <p:nvSpPr>
          <p:cNvPr id="9" name="Text 7"/>
          <p:cNvSpPr/>
          <p:nvPr/>
        </p:nvSpPr>
        <p:spPr>
          <a:xfrm>
            <a:off x="4717926" y="1912293"/>
            <a:ext cx="3890814" cy="32399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33F70"/>
                </a:solidFill>
                <a:latin typeface="Open Sans" pitchFamily="34" charset="0"/>
                <a:ea typeface="Open Sans" pitchFamily="34" charset="-122"/>
                <a:cs typeface="Open Sans" pitchFamily="34" charset="-120"/>
              </a:rPr>
              <a:t>The following items fall outside the scope of the free warranty and would require a separate agreement or the monthly support plan.</a:t>
            </a:r>
            <a:endParaRPr lang="en-US" sz="900" dirty="0"/>
          </a:p>
        </p:txBody>
      </p:sp>
      <p:sp>
        <p:nvSpPr>
          <p:cNvPr id="10" name="Text 8"/>
          <p:cNvSpPr/>
          <p:nvPr/>
        </p:nvSpPr>
        <p:spPr>
          <a:xfrm>
            <a:off x="4717926" y="2314352"/>
            <a:ext cx="3890814" cy="1123801"/>
          </a:xfrm>
          <a:prstGeom prst="rect">
            <a:avLst/>
          </a:prstGeom>
          <a:noFill/>
          <a:ln/>
        </p:spPr>
        <p:txBody>
          <a:bodyPr wrap="square" lIns="0" tIns="0" rIns="0" bIns="0" rtlCol="0" anchor="t">
            <a:normAutofit/>
          </a:bodyPr>
          <a:lstStyle/>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New features or functionality</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Additional modules or integrations</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Design changes or revisions</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New third-party integrations</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Content creation or updates</a:t>
            </a:r>
            <a:endParaRPr lang="en-US" sz="900" dirty="0"/>
          </a:p>
          <a:p>
            <a:pPr marL="182880" indent="-182880" algn="l">
              <a:lnSpc>
                <a:spcPct val="117000"/>
              </a:lnSpc>
              <a:buSzPct val="100000"/>
              <a:buChar char="•"/>
            </a:pPr>
            <a:r>
              <a:rPr lang="en-US" sz="900" dirty="0">
                <a:solidFill>
                  <a:srgbClr val="333F70"/>
                </a:solidFill>
                <a:latin typeface="Open Sans" pitchFamily="34" charset="0"/>
                <a:ea typeface="Open Sans" pitchFamily="34" charset="-122"/>
                <a:cs typeface="Open Sans" pitchFamily="34" charset="-120"/>
              </a:rPr>
              <a:t>Third-party subscription charges</a:t>
            </a:r>
            <a:endParaRPr lang="en-US" sz="900" dirty="0"/>
          </a:p>
        </p:txBody>
      </p:sp>
      <p:sp>
        <p:nvSpPr>
          <p:cNvPr id="11" name="Shape 9"/>
          <p:cNvSpPr/>
          <p:nvPr/>
        </p:nvSpPr>
        <p:spPr>
          <a:xfrm>
            <a:off x="540023" y="3566145"/>
            <a:ext cx="8063954" cy="1138163"/>
          </a:xfrm>
          <a:prstGeom prst="roundRect">
            <a:avLst>
              <a:gd name="adj" fmla="val 4271"/>
            </a:avLst>
          </a:prstGeom>
          <a:solidFill>
            <a:srgbClr val="B6D6FC"/>
          </a:solidFill>
          <a:ln/>
        </p:spPr>
      </p:sp>
      <p:pic>
        <p:nvPicPr>
          <p:cNvPr id="12" name="Image 0" descr="preencoded.png"/>
          <p:cNvPicPr>
            <a:picLocks noChangeAspect="1"/>
          </p:cNvPicPr>
          <p:nvPr/>
        </p:nvPicPr>
        <p:blipFill>
          <a:blip r:embed="rId3"/>
          <a:stretch>
            <a:fillRect/>
          </a:stretch>
        </p:blipFill>
        <p:spPr>
          <a:xfrm>
            <a:off x="655737" y="3698081"/>
            <a:ext cx="180826" cy="144661"/>
          </a:xfrm>
          <a:prstGeom prst="rect">
            <a:avLst/>
          </a:prstGeom>
        </p:spPr>
      </p:pic>
      <p:sp>
        <p:nvSpPr>
          <p:cNvPr id="13" name="Text 10"/>
          <p:cNvSpPr/>
          <p:nvPr/>
        </p:nvSpPr>
        <p:spPr>
          <a:xfrm>
            <a:off x="952277" y="3681785"/>
            <a:ext cx="7535987" cy="180826"/>
          </a:xfrm>
          <a:prstGeom prst="rect">
            <a:avLst/>
          </a:prstGeom>
          <a:noFill/>
          <a:ln/>
        </p:spPr>
        <p:txBody>
          <a:bodyPr wrap="none" lIns="0" tIns="0" rIns="0" bIns="0" rtlCol="0" anchor="t"/>
          <a:lstStyle/>
          <a:p>
            <a:pPr marL="0" indent="0" algn="l">
              <a:lnSpc>
                <a:spcPct val="104000"/>
              </a:lnSpc>
              <a:buNone/>
            </a:pPr>
            <a:r>
              <a:rPr lang="en-US" sz="1100" b="1" dirty="0">
                <a:solidFill>
                  <a:srgbClr val="000000"/>
                </a:solidFill>
                <a:latin typeface="Unbounded Bold" pitchFamily="34" charset="0"/>
                <a:ea typeface="Unbounded Bold" pitchFamily="34" charset="-122"/>
                <a:cs typeface="Unbounded Bold" pitchFamily="34" charset="-120"/>
              </a:rPr>
              <a:t>Optional Monthly Maintenance &amp; Support — LKR 8,000 / Month</a:t>
            </a:r>
            <a:endParaRPr lang="en-US" sz="1100" dirty="0"/>
          </a:p>
        </p:txBody>
      </p:sp>
      <p:sp>
        <p:nvSpPr>
          <p:cNvPr id="14" name="Text 11"/>
          <p:cNvSpPr/>
          <p:nvPr/>
        </p:nvSpPr>
        <p:spPr>
          <a:xfrm>
            <a:off x="952277" y="3949378"/>
            <a:ext cx="7535987" cy="647998"/>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000000"/>
                </a:solidFill>
                <a:latin typeface="Open Sans" pitchFamily="34" charset="0"/>
                <a:ea typeface="Open Sans" pitchFamily="34" charset="-122"/>
                <a:cs typeface="Open Sans" pitchFamily="34" charset="-120"/>
              </a:rPr>
              <a:t>Available after the free 30-day warranty period expires. This professional support plan ensures your platform remains secure, updated, and performing at its best. The plan includes priority technical support, bug fixes, security updates, performance monitoring, minor content updates, deployment assistance, database health checks, and ongoing system maintenance. This is recommended for businesses that want reliable, ongoing technical support without the need for in-house development resources.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0023" y="488082"/>
            <a:ext cx="8063954" cy="316409"/>
          </a:xfrm>
          <a:prstGeom prst="rect">
            <a:avLst/>
          </a:prstGeom>
          <a:noFill/>
          <a:ln/>
        </p:spPr>
        <p:txBody>
          <a:bodyPr wrap="none" lIns="0" tIns="0" rIns="0" bIns="0" rtlCol="0" anchor="t"/>
          <a:lstStyle/>
          <a:p>
            <a:pPr marL="0" indent="0" algn="l">
              <a:lnSpc>
                <a:spcPct val="104000"/>
              </a:lnSpc>
              <a:buNone/>
            </a:pPr>
            <a:r>
              <a:rPr lang="en-US" sz="1950" b="1" dirty="0">
                <a:solidFill>
                  <a:srgbClr val="333F70"/>
                </a:solidFill>
                <a:latin typeface="Unbounded Bold" pitchFamily="34" charset="0"/>
                <a:ea typeface="Unbounded Bold" pitchFamily="34" charset="-122"/>
                <a:cs typeface="Unbounded Bold" pitchFamily="34" charset="-120"/>
              </a:rPr>
              <a:t>Hosting, Infrastructure &amp; Ownership</a:t>
            </a:r>
            <a:endParaRPr lang="en-US" sz="1950" dirty="0"/>
          </a:p>
        </p:txBody>
      </p:sp>
      <p:sp>
        <p:nvSpPr>
          <p:cNvPr id="3" name="Text 1"/>
          <p:cNvSpPr/>
          <p:nvPr/>
        </p:nvSpPr>
        <p:spPr>
          <a:xfrm>
            <a:off x="540023" y="937394"/>
            <a:ext cx="8063954" cy="268337"/>
          </a:xfrm>
          <a:prstGeom prst="rect">
            <a:avLst/>
          </a:prstGeom>
          <a:noFill/>
          <a:ln/>
        </p:spPr>
        <p:txBody>
          <a:bodyPr wrap="square" lIns="0" tIns="0" rIns="0" bIns="0" rtlCol="0" anchor="t">
            <a:normAutofit/>
          </a:bodyPr>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The Juice Vibe Waskaduwa platform is currently deployed on a modern, cloud-based infrastructure using industry-leading services. The table below outlines each service provider and their role in the platform's operation. All services are currently operating on available free-tier plans, which is suitable for the current stage of the business.</a:t>
            </a:r>
            <a:endParaRPr lang="en-US" sz="750" dirty="0"/>
          </a:p>
        </p:txBody>
      </p:sp>
      <p:sp>
        <p:nvSpPr>
          <p:cNvPr id="4" name="Shape 2"/>
          <p:cNvSpPr/>
          <p:nvPr/>
        </p:nvSpPr>
        <p:spPr>
          <a:xfrm>
            <a:off x="540023" y="1280443"/>
            <a:ext cx="8063954" cy="1145158"/>
          </a:xfrm>
          <a:prstGeom prst="roundRect">
            <a:avLst>
              <a:gd name="adj" fmla="val 3714"/>
            </a:avLst>
          </a:prstGeom>
          <a:noFill/>
          <a:ln w="4763">
            <a:solidFill>
              <a:srgbClr val="000000">
                <a:alpha val="8000"/>
              </a:srgbClr>
            </a:solidFill>
            <a:prstDash val="solid"/>
          </a:ln>
        </p:spPr>
      </p:sp>
      <p:sp>
        <p:nvSpPr>
          <p:cNvPr id="5" name="Shape 3"/>
          <p:cNvSpPr/>
          <p:nvPr/>
        </p:nvSpPr>
        <p:spPr>
          <a:xfrm>
            <a:off x="540023" y="1510903"/>
            <a:ext cx="8063954" cy="6329"/>
          </a:xfrm>
          <a:prstGeom prst="rect">
            <a:avLst/>
          </a:prstGeom>
          <a:solidFill>
            <a:srgbClr val="000000">
              <a:alpha val="8000"/>
            </a:srgbClr>
          </a:solidFill>
          <a:ln/>
        </p:spPr>
      </p:sp>
      <p:sp>
        <p:nvSpPr>
          <p:cNvPr id="6" name="Shape 4"/>
          <p:cNvSpPr/>
          <p:nvPr/>
        </p:nvSpPr>
        <p:spPr>
          <a:xfrm>
            <a:off x="540023" y="1738982"/>
            <a:ext cx="8063954" cy="6329"/>
          </a:xfrm>
          <a:prstGeom prst="rect">
            <a:avLst/>
          </a:prstGeom>
          <a:solidFill>
            <a:srgbClr val="000000">
              <a:alpha val="8000"/>
            </a:srgbClr>
          </a:solidFill>
          <a:ln/>
        </p:spPr>
      </p:sp>
      <p:sp>
        <p:nvSpPr>
          <p:cNvPr id="7" name="Shape 5"/>
          <p:cNvSpPr/>
          <p:nvPr/>
        </p:nvSpPr>
        <p:spPr>
          <a:xfrm>
            <a:off x="540023" y="1967061"/>
            <a:ext cx="8063954" cy="6329"/>
          </a:xfrm>
          <a:prstGeom prst="rect">
            <a:avLst/>
          </a:prstGeom>
          <a:solidFill>
            <a:srgbClr val="000000">
              <a:alpha val="8000"/>
            </a:srgbClr>
          </a:solidFill>
          <a:ln/>
        </p:spPr>
      </p:sp>
      <p:sp>
        <p:nvSpPr>
          <p:cNvPr id="8" name="Shape 6"/>
          <p:cNvSpPr/>
          <p:nvPr/>
        </p:nvSpPr>
        <p:spPr>
          <a:xfrm>
            <a:off x="540023" y="2195140"/>
            <a:ext cx="8063954" cy="6329"/>
          </a:xfrm>
          <a:prstGeom prst="rect">
            <a:avLst/>
          </a:prstGeom>
          <a:solidFill>
            <a:srgbClr val="000000">
              <a:alpha val="8000"/>
            </a:srgbClr>
          </a:solidFill>
          <a:ln/>
        </p:spPr>
      </p:sp>
      <p:sp>
        <p:nvSpPr>
          <p:cNvPr id="9" name="Shape 7"/>
          <p:cNvSpPr/>
          <p:nvPr/>
        </p:nvSpPr>
        <p:spPr>
          <a:xfrm>
            <a:off x="3766617" y="1280443"/>
            <a:ext cx="6329" cy="1145158"/>
          </a:xfrm>
          <a:prstGeom prst="rect">
            <a:avLst/>
          </a:prstGeom>
          <a:solidFill>
            <a:srgbClr val="000000">
              <a:alpha val="8000"/>
            </a:srgbClr>
          </a:solidFill>
          <a:ln/>
        </p:spPr>
      </p:sp>
      <p:sp>
        <p:nvSpPr>
          <p:cNvPr id="10" name="Text 8"/>
          <p:cNvSpPr/>
          <p:nvPr/>
        </p:nvSpPr>
        <p:spPr>
          <a:xfrm>
            <a:off x="646063" y="1329779"/>
            <a:ext cx="3474169" cy="134169"/>
          </a:xfrm>
          <a:prstGeom prst="rect">
            <a:avLst/>
          </a:prstGeom>
          <a:noFill/>
          <a:ln/>
        </p:spPr>
        <p:txBody>
          <a:bodyPr wrap="none" lIns="0" tIns="0" rIns="0" bIns="0" rtlCol="0" anchor="t"/>
          <a:lstStyle/>
          <a:p>
            <a:pPr marL="0" indent="0" algn="l">
              <a:lnSpc>
                <a:spcPct val="110000"/>
              </a:lnSpc>
              <a:buNone/>
            </a:pPr>
            <a:r>
              <a:rPr lang="en-US" sz="750" b="1" dirty="0">
                <a:solidFill>
                  <a:srgbClr val="333F70"/>
                </a:solidFill>
                <a:latin typeface="Open Sans Bold" pitchFamily="34" charset="0"/>
                <a:ea typeface="Open Sans Bold" pitchFamily="34" charset="-122"/>
                <a:cs typeface="Open Sans Bold" pitchFamily="34" charset="-120"/>
              </a:rPr>
              <a:t>Service</a:t>
            </a:r>
            <a:endParaRPr lang="en-US" sz="750" dirty="0"/>
          </a:p>
        </p:txBody>
      </p:sp>
      <p:sp>
        <p:nvSpPr>
          <p:cNvPr id="11" name="Text 9"/>
          <p:cNvSpPr/>
          <p:nvPr/>
        </p:nvSpPr>
        <p:spPr>
          <a:xfrm>
            <a:off x="3870201" y="1329779"/>
            <a:ext cx="5085011" cy="134169"/>
          </a:xfrm>
          <a:prstGeom prst="rect">
            <a:avLst/>
          </a:prstGeom>
          <a:noFill/>
          <a:ln/>
        </p:spPr>
        <p:txBody>
          <a:bodyPr wrap="none" lIns="0" tIns="0" rIns="0" bIns="0" rtlCol="0" anchor="t"/>
          <a:lstStyle/>
          <a:p>
            <a:pPr marL="0" indent="0" algn="l">
              <a:lnSpc>
                <a:spcPct val="110000"/>
              </a:lnSpc>
              <a:buNone/>
            </a:pPr>
            <a:r>
              <a:rPr lang="en-US" sz="750" b="1" dirty="0">
                <a:solidFill>
                  <a:srgbClr val="333F70"/>
                </a:solidFill>
                <a:latin typeface="Open Sans Bold" pitchFamily="34" charset="0"/>
                <a:ea typeface="Open Sans Bold" pitchFamily="34" charset="-122"/>
                <a:cs typeface="Open Sans Bold" pitchFamily="34" charset="-120"/>
              </a:rPr>
              <a:t>Provider</a:t>
            </a:r>
            <a:endParaRPr lang="en-US" sz="750" dirty="0"/>
          </a:p>
        </p:txBody>
      </p:sp>
      <p:sp>
        <p:nvSpPr>
          <p:cNvPr id="12" name="Text 10"/>
          <p:cNvSpPr/>
          <p:nvPr/>
        </p:nvSpPr>
        <p:spPr>
          <a:xfrm>
            <a:off x="646063" y="1557858"/>
            <a:ext cx="3474169" cy="134169"/>
          </a:xfrm>
          <a:prstGeom prst="rect">
            <a:avLst/>
          </a:prstGeom>
          <a:noFill/>
          <a:ln/>
        </p:spPr>
        <p:txBody>
          <a:bodyPr wrap="none" lIns="0" tIns="0" rIns="0" bIns="0" rtlCol="0" anchor="t"/>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Website Hosting</a:t>
            </a:r>
            <a:endParaRPr lang="en-US" sz="750" dirty="0"/>
          </a:p>
        </p:txBody>
      </p:sp>
      <p:sp>
        <p:nvSpPr>
          <p:cNvPr id="13" name="Text 11"/>
          <p:cNvSpPr/>
          <p:nvPr/>
        </p:nvSpPr>
        <p:spPr>
          <a:xfrm>
            <a:off x="3870201" y="1557858"/>
            <a:ext cx="5085011" cy="134169"/>
          </a:xfrm>
          <a:prstGeom prst="rect">
            <a:avLst/>
          </a:prstGeom>
          <a:noFill/>
          <a:ln/>
        </p:spPr>
        <p:txBody>
          <a:bodyPr wrap="none" lIns="0" tIns="0" rIns="0" bIns="0" rtlCol="0" anchor="t"/>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Vercel</a:t>
            </a:r>
            <a:endParaRPr lang="en-US" sz="750" dirty="0"/>
          </a:p>
        </p:txBody>
      </p:sp>
      <p:sp>
        <p:nvSpPr>
          <p:cNvPr id="14" name="Text 12"/>
          <p:cNvSpPr/>
          <p:nvPr/>
        </p:nvSpPr>
        <p:spPr>
          <a:xfrm>
            <a:off x="646063" y="1785938"/>
            <a:ext cx="3474169" cy="134169"/>
          </a:xfrm>
          <a:prstGeom prst="rect">
            <a:avLst/>
          </a:prstGeom>
          <a:noFill/>
          <a:ln/>
        </p:spPr>
        <p:txBody>
          <a:bodyPr wrap="none" lIns="0" tIns="0" rIns="0" bIns="0" rtlCol="0" anchor="t"/>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Backend Hosting</a:t>
            </a:r>
            <a:endParaRPr lang="en-US" sz="750" dirty="0"/>
          </a:p>
        </p:txBody>
      </p:sp>
      <p:sp>
        <p:nvSpPr>
          <p:cNvPr id="15" name="Text 13"/>
          <p:cNvSpPr/>
          <p:nvPr/>
        </p:nvSpPr>
        <p:spPr>
          <a:xfrm>
            <a:off x="3870201" y="1785938"/>
            <a:ext cx="5085011" cy="134169"/>
          </a:xfrm>
          <a:prstGeom prst="rect">
            <a:avLst/>
          </a:prstGeom>
          <a:noFill/>
          <a:ln/>
        </p:spPr>
        <p:txBody>
          <a:bodyPr wrap="none" lIns="0" tIns="0" rIns="0" bIns="0" rtlCol="0" anchor="t"/>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Vercel</a:t>
            </a:r>
            <a:endParaRPr lang="en-US" sz="750" dirty="0"/>
          </a:p>
        </p:txBody>
      </p:sp>
      <p:sp>
        <p:nvSpPr>
          <p:cNvPr id="16" name="Text 14"/>
          <p:cNvSpPr/>
          <p:nvPr/>
        </p:nvSpPr>
        <p:spPr>
          <a:xfrm>
            <a:off x="646063" y="2014017"/>
            <a:ext cx="3474169" cy="134169"/>
          </a:xfrm>
          <a:prstGeom prst="rect">
            <a:avLst/>
          </a:prstGeom>
          <a:noFill/>
          <a:ln/>
        </p:spPr>
        <p:txBody>
          <a:bodyPr wrap="none" lIns="0" tIns="0" rIns="0" bIns="0" rtlCol="0" anchor="t"/>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Database</a:t>
            </a:r>
            <a:endParaRPr lang="en-US" sz="750" dirty="0"/>
          </a:p>
        </p:txBody>
      </p:sp>
      <p:sp>
        <p:nvSpPr>
          <p:cNvPr id="17" name="Text 15"/>
          <p:cNvSpPr/>
          <p:nvPr/>
        </p:nvSpPr>
        <p:spPr>
          <a:xfrm>
            <a:off x="3870201" y="2014017"/>
            <a:ext cx="5085011" cy="134169"/>
          </a:xfrm>
          <a:prstGeom prst="rect">
            <a:avLst/>
          </a:prstGeom>
          <a:noFill/>
          <a:ln/>
        </p:spPr>
        <p:txBody>
          <a:bodyPr wrap="none" lIns="0" tIns="0" rIns="0" bIns="0" rtlCol="0" anchor="t"/>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Neon PostgreSQL</a:t>
            </a:r>
            <a:endParaRPr lang="en-US" sz="750" dirty="0"/>
          </a:p>
        </p:txBody>
      </p:sp>
      <p:sp>
        <p:nvSpPr>
          <p:cNvPr id="18" name="Text 16"/>
          <p:cNvSpPr/>
          <p:nvPr/>
        </p:nvSpPr>
        <p:spPr>
          <a:xfrm>
            <a:off x="646063" y="2242096"/>
            <a:ext cx="3474169" cy="134169"/>
          </a:xfrm>
          <a:prstGeom prst="rect">
            <a:avLst/>
          </a:prstGeom>
          <a:noFill/>
          <a:ln/>
        </p:spPr>
        <p:txBody>
          <a:bodyPr wrap="none" lIns="0" tIns="0" rIns="0" bIns="0" rtlCol="0" anchor="t"/>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Image Storage</a:t>
            </a:r>
            <a:endParaRPr lang="en-US" sz="750" dirty="0"/>
          </a:p>
        </p:txBody>
      </p:sp>
      <p:sp>
        <p:nvSpPr>
          <p:cNvPr id="19" name="Text 17"/>
          <p:cNvSpPr/>
          <p:nvPr/>
        </p:nvSpPr>
        <p:spPr>
          <a:xfrm>
            <a:off x="3870201" y="2242096"/>
            <a:ext cx="5085011" cy="134169"/>
          </a:xfrm>
          <a:prstGeom prst="rect">
            <a:avLst/>
          </a:prstGeom>
          <a:noFill/>
          <a:ln/>
        </p:spPr>
        <p:txBody>
          <a:bodyPr wrap="none" lIns="0" tIns="0" rIns="0" bIns="0" rtlCol="0" anchor="t"/>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Cloudinary</a:t>
            </a:r>
            <a:endParaRPr lang="en-US" sz="750" dirty="0"/>
          </a:p>
        </p:txBody>
      </p:sp>
      <p:sp>
        <p:nvSpPr>
          <p:cNvPr id="20" name="Text 18"/>
          <p:cNvSpPr/>
          <p:nvPr/>
        </p:nvSpPr>
        <p:spPr>
          <a:xfrm>
            <a:off x="540023" y="2500313"/>
            <a:ext cx="8063954" cy="402506"/>
          </a:xfrm>
          <a:prstGeom prst="rect">
            <a:avLst/>
          </a:prstGeom>
          <a:noFill/>
          <a:ln/>
        </p:spPr>
        <p:txBody>
          <a:bodyPr wrap="square" lIns="0" tIns="0" rIns="0" bIns="0" rtlCol="0" anchor="t">
            <a:normAutofit/>
          </a:bodyPr>
          <a:lstStyle/>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These services currently operate using available free-tier plans, which means there are no ongoing hosting costs at this time. As the business grows and traffic increases, some of these services may require upgrades to paid plans to ensure continued performance and reliability. Any future infrastructure upgrade costs will be discussed with and approved by the client separately before any changes are made. This ensures full transparency and gives the client complete control over any additional expenditures.</a:t>
            </a:r>
            <a:endParaRPr lang="en-US" sz="750" dirty="0"/>
          </a:p>
        </p:txBody>
      </p:sp>
      <p:sp>
        <p:nvSpPr>
          <p:cNvPr id="21" name="Text 19"/>
          <p:cNvSpPr/>
          <p:nvPr/>
        </p:nvSpPr>
        <p:spPr>
          <a:xfrm>
            <a:off x="540023" y="3043982"/>
            <a:ext cx="4323978" cy="158204"/>
          </a:xfrm>
          <a:prstGeom prst="rect">
            <a:avLst/>
          </a:prstGeom>
          <a:noFill/>
          <a:ln/>
        </p:spPr>
        <p:txBody>
          <a:bodyPr wrap="none" lIns="0" tIns="0" rIns="0" bIns="0" rtlCol="0" anchor="t"/>
          <a:lstStyle/>
          <a:p>
            <a:pPr marL="0" indent="0" algn="l">
              <a:lnSpc>
                <a:spcPct val="104000"/>
              </a:lnSpc>
              <a:buNone/>
            </a:pPr>
            <a:r>
              <a:rPr lang="en-US" sz="950" b="1" dirty="0">
                <a:solidFill>
                  <a:srgbClr val="333F70"/>
                </a:solidFill>
                <a:latin typeface="Unbounded Bold" pitchFamily="34" charset="0"/>
                <a:ea typeface="Unbounded Bold" pitchFamily="34" charset="-122"/>
                <a:cs typeface="Unbounded Bold" pitchFamily="34" charset="-120"/>
              </a:rPr>
              <a:t>Ownership &amp; Delivery Policy</a:t>
            </a:r>
            <a:endParaRPr lang="en-US" sz="950" dirty="0"/>
          </a:p>
        </p:txBody>
      </p:sp>
      <p:sp>
        <p:nvSpPr>
          <p:cNvPr id="22" name="Text 20"/>
          <p:cNvSpPr/>
          <p:nvPr/>
        </p:nvSpPr>
        <p:spPr>
          <a:xfrm>
            <a:off x="540023" y="3268638"/>
            <a:ext cx="4323978" cy="1133103"/>
          </a:xfrm>
          <a:prstGeom prst="rect">
            <a:avLst/>
          </a:prstGeom>
          <a:noFill/>
          <a:ln/>
        </p:spPr>
        <p:txBody>
          <a:bodyPr wrap="square" lIns="0" tIns="0" rIns="0" bIns="0" rtlCol="0" anchor="t">
            <a:normAutofit/>
          </a:bodyPr>
          <a:lstStyle/>
          <a:p>
            <a:pPr marL="0" indent="0" algn="l">
              <a:lnSpc>
                <a:spcPct val="110000"/>
              </a:lnSpc>
              <a:spcAft>
                <a:spcPts val="450"/>
              </a:spcAft>
              <a:buNone/>
            </a:pPr>
            <a:r>
              <a:rPr lang="en-US" sz="750" dirty="0">
                <a:solidFill>
                  <a:srgbClr val="333F70"/>
                </a:solidFill>
                <a:latin typeface="Open Sans" pitchFamily="34" charset="0"/>
                <a:ea typeface="Open Sans" pitchFamily="34" charset="-122"/>
                <a:cs typeface="Open Sans" pitchFamily="34" charset="-120"/>
              </a:rPr>
              <a:t>Full ownership of the platform — including all source code, credentials, and project documentation — transfers to Juice Vibe Waskaduwa upon receipt of the final payment. Until the full agreed fee has been settled, the developer retains ownership of all project assets. This is standard practice in software development and ensures that both parties fulfill their obligations before the final handover.</a:t>
            </a:r>
            <a:endParaRPr lang="en-US" sz="750" dirty="0"/>
          </a:p>
          <a:p>
            <a:pPr marL="0" indent="0" algn="l">
              <a:lnSpc>
                <a:spcPct val="110000"/>
              </a:lnSpc>
              <a:buNone/>
            </a:pPr>
            <a:r>
              <a:rPr lang="en-US" sz="750" dirty="0">
                <a:solidFill>
                  <a:srgbClr val="333F70"/>
                </a:solidFill>
                <a:latin typeface="Open Sans" pitchFamily="34" charset="0"/>
                <a:ea typeface="Open Sans" pitchFamily="34" charset="-122"/>
                <a:cs typeface="Open Sans" pitchFamily="34" charset="-120"/>
              </a:rPr>
              <a:t>Any additional requirements or features requested outside the approved project scope will be quoted separately. This allows the client to expand the platform in the future while maintaining clear boundaries around the original agreement.</a:t>
            </a:r>
            <a:endParaRPr lang="en-US" sz="750" dirty="0"/>
          </a:p>
        </p:txBody>
      </p:sp>
      <p:sp>
        <p:nvSpPr>
          <p:cNvPr id="23" name="Shape 21"/>
          <p:cNvSpPr/>
          <p:nvPr/>
        </p:nvSpPr>
        <p:spPr>
          <a:xfrm>
            <a:off x="5042892" y="2977530"/>
            <a:ext cx="3638699" cy="1677888"/>
          </a:xfrm>
          <a:prstGeom prst="roundRect">
            <a:avLst>
              <a:gd name="adj" fmla="val 4345"/>
            </a:avLst>
          </a:prstGeom>
          <a:solidFill>
            <a:srgbClr val="192248"/>
          </a:solidFill>
          <a:ln/>
        </p:spPr>
      </p:sp>
      <p:sp>
        <p:nvSpPr>
          <p:cNvPr id="24" name="Text 22"/>
          <p:cNvSpPr/>
          <p:nvPr/>
        </p:nvSpPr>
        <p:spPr>
          <a:xfrm>
            <a:off x="5144095" y="3043982"/>
            <a:ext cx="3436293" cy="158204"/>
          </a:xfrm>
          <a:prstGeom prst="rect">
            <a:avLst/>
          </a:prstGeom>
          <a:noFill/>
          <a:ln/>
        </p:spPr>
        <p:txBody>
          <a:bodyPr wrap="none" lIns="0" tIns="0" rIns="0" bIns="0" rtlCol="0" anchor="t"/>
          <a:lstStyle/>
          <a:p>
            <a:pPr marL="0" indent="0" algn="l">
              <a:lnSpc>
                <a:spcPct val="104000"/>
              </a:lnSpc>
              <a:buNone/>
            </a:pPr>
            <a:r>
              <a:rPr lang="en-US" sz="950" b="1" dirty="0">
                <a:solidFill>
                  <a:srgbClr val="FFFFFF"/>
                </a:solidFill>
                <a:latin typeface="Unbounded Bold" pitchFamily="34" charset="0"/>
                <a:ea typeface="Unbounded Bold" pitchFamily="34" charset="-122"/>
                <a:cs typeface="Unbounded Bold" pitchFamily="34" charset="-120"/>
              </a:rPr>
              <a:t>Payment Method</a:t>
            </a:r>
            <a:endParaRPr lang="en-US" sz="950" dirty="0"/>
          </a:p>
        </p:txBody>
      </p:sp>
      <p:sp>
        <p:nvSpPr>
          <p:cNvPr id="25" name="Text 23"/>
          <p:cNvSpPr/>
          <p:nvPr/>
        </p:nvSpPr>
        <p:spPr>
          <a:xfrm>
            <a:off x="5144095" y="3268638"/>
            <a:ext cx="3436293" cy="1327026"/>
          </a:xfrm>
          <a:prstGeom prst="rect">
            <a:avLst/>
          </a:prstGeom>
          <a:noFill/>
          <a:ln/>
        </p:spPr>
        <p:txBody>
          <a:bodyPr wrap="square" lIns="0" tIns="0" rIns="0" bIns="0" rtlCol="0" anchor="t">
            <a:normAutofit/>
          </a:bodyPr>
          <a:lstStyle/>
          <a:p>
            <a:pPr marL="0" indent="0" algn="l">
              <a:lnSpc>
                <a:spcPct val="110000"/>
              </a:lnSpc>
              <a:spcAft>
                <a:spcPts val="450"/>
              </a:spcAft>
              <a:buNone/>
            </a:pPr>
            <a:r>
              <a:rPr lang="en-US" sz="750" dirty="0">
                <a:solidFill>
                  <a:srgbClr val="FFFFFF"/>
                </a:solidFill>
                <a:latin typeface="Open Sans" pitchFamily="34" charset="0"/>
                <a:ea typeface="Open Sans" pitchFamily="34" charset="-122"/>
                <a:cs typeface="Open Sans" pitchFamily="34" charset="-120"/>
              </a:rPr>
              <a:t>Please use the following bank details to transfer payments. Contact the developer directly to confirm account information before making any transfer.</a:t>
            </a:r>
            <a:endParaRPr lang="en-US" sz="750" dirty="0"/>
          </a:p>
          <a:p>
            <a:pPr marL="0" indent="0" algn="l">
              <a:lnSpc>
                <a:spcPct val="110000"/>
              </a:lnSpc>
              <a:buNone/>
            </a:pPr>
            <a:r>
              <a:rPr lang="en-US" sz="750" b="1" dirty="0">
                <a:solidFill>
                  <a:srgbClr val="FFFFFF"/>
                </a:solidFill>
                <a:latin typeface="Open Sans Bold" pitchFamily="34" charset="0"/>
                <a:ea typeface="Open Sans Bold" pitchFamily="34" charset="-122"/>
                <a:cs typeface="Open Sans Bold" pitchFamily="34" charset="-120"/>
              </a:rPr>
              <a:t>Bank Name:</a:t>
            </a:r>
            <a:r>
              <a:rPr lang="en-US" sz="750" dirty="0">
                <a:solidFill>
                  <a:srgbClr val="FFFFFF"/>
                </a:solidFill>
                <a:latin typeface="Open Sans" pitchFamily="34" charset="0"/>
                <a:ea typeface="Open Sans" pitchFamily="34" charset="-122"/>
                <a:cs typeface="Open Sans" pitchFamily="34" charset="-120"/>
              </a:rPr>
              <a:t> BOC - </a:t>
            </a:r>
            <a:r>
              <a:rPr lang="en-US" sz="750" dirty="0" err="1">
                <a:solidFill>
                  <a:srgbClr val="FFFFFF"/>
                </a:solidFill>
                <a:latin typeface="Open Sans" pitchFamily="34" charset="0"/>
                <a:ea typeface="Open Sans" pitchFamily="34" charset="-122"/>
                <a:cs typeface="Open Sans" pitchFamily="34" charset="-120"/>
              </a:rPr>
              <a:t>Mathugama</a:t>
            </a:r>
            <a:endParaRPr lang="en-US" sz="750" dirty="0"/>
          </a:p>
          <a:p>
            <a:pPr marL="0" indent="0" algn="l">
              <a:lnSpc>
                <a:spcPct val="110000"/>
              </a:lnSpc>
              <a:buNone/>
            </a:pPr>
            <a:r>
              <a:rPr lang="en-US" sz="750" b="1" dirty="0">
                <a:solidFill>
                  <a:srgbClr val="FFFFFF"/>
                </a:solidFill>
                <a:latin typeface="Open Sans Bold" pitchFamily="34" charset="0"/>
                <a:ea typeface="Open Sans Bold" pitchFamily="34" charset="-122"/>
                <a:cs typeface="Open Sans Bold" pitchFamily="34" charset="-120"/>
              </a:rPr>
              <a:t>Account Name:</a:t>
            </a:r>
            <a:r>
              <a:rPr lang="en-US" sz="750" dirty="0">
                <a:solidFill>
                  <a:srgbClr val="FFFFFF"/>
                </a:solidFill>
                <a:latin typeface="Open Sans" pitchFamily="34" charset="0"/>
                <a:ea typeface="Open Sans" pitchFamily="34" charset="-122"/>
                <a:cs typeface="Open Sans" pitchFamily="34" charset="-120"/>
              </a:rPr>
              <a:t> </a:t>
            </a:r>
            <a:r>
              <a:rPr lang="en-US" sz="750" dirty="0" err="1">
                <a:solidFill>
                  <a:srgbClr val="FFFFFF"/>
                </a:solidFill>
                <a:latin typeface="Open Sans" pitchFamily="34" charset="0"/>
                <a:ea typeface="Open Sans" pitchFamily="34" charset="-122"/>
                <a:cs typeface="Open Sans" pitchFamily="34" charset="-120"/>
              </a:rPr>
              <a:t>A.K.D.Lakruwan</a:t>
            </a:r>
            <a:endParaRPr lang="en-US" sz="750" dirty="0">
              <a:solidFill>
                <a:srgbClr val="FFFFFF"/>
              </a:solidFill>
              <a:latin typeface="Open Sans" pitchFamily="34" charset="0"/>
              <a:ea typeface="Open Sans" pitchFamily="34" charset="-122"/>
              <a:cs typeface="Open Sans" pitchFamily="34" charset="-120"/>
            </a:endParaRPr>
          </a:p>
          <a:p>
            <a:pPr marL="0" indent="0" algn="l">
              <a:lnSpc>
                <a:spcPct val="110000"/>
              </a:lnSpc>
              <a:buNone/>
            </a:pPr>
            <a:r>
              <a:rPr lang="en-US" sz="750" b="1" dirty="0">
                <a:solidFill>
                  <a:srgbClr val="FFFFFF"/>
                </a:solidFill>
                <a:latin typeface="Open Sans Bold" pitchFamily="34" charset="0"/>
                <a:ea typeface="Open Sans Bold" pitchFamily="34" charset="-122"/>
                <a:cs typeface="Open Sans Bold" pitchFamily="34" charset="-120"/>
              </a:rPr>
              <a:t>Account Number:</a:t>
            </a:r>
            <a:r>
              <a:rPr lang="en-US" sz="750" dirty="0">
                <a:solidFill>
                  <a:srgbClr val="FFFFFF"/>
                </a:solidFill>
                <a:latin typeface="Open Sans" pitchFamily="34" charset="0"/>
                <a:ea typeface="Open Sans" pitchFamily="34" charset="-122"/>
                <a:cs typeface="Open Sans" pitchFamily="34" charset="-120"/>
              </a:rPr>
              <a:t> 6424499</a:t>
            </a:r>
          </a:p>
          <a:p>
            <a:pPr marL="0" indent="0" algn="l">
              <a:lnSpc>
                <a:spcPct val="110000"/>
              </a:lnSpc>
              <a:buNone/>
            </a:pPr>
            <a:r>
              <a:rPr lang="en-US" sz="750" b="1" dirty="0">
                <a:solidFill>
                  <a:srgbClr val="FFFFFF"/>
                </a:solidFill>
                <a:latin typeface="Open Sans Bold" pitchFamily="34" charset="0"/>
                <a:ea typeface="Open Sans Bold" pitchFamily="34" charset="-122"/>
                <a:cs typeface="Open Sans Bold" pitchFamily="34" charset="-120"/>
              </a:rPr>
              <a:t>Branch: </a:t>
            </a:r>
            <a:r>
              <a:rPr lang="en-US" sz="750" b="1" dirty="0" err="1">
                <a:solidFill>
                  <a:srgbClr val="FFFFFF"/>
                </a:solidFill>
                <a:latin typeface="Open Sans Bold" pitchFamily="34" charset="0"/>
                <a:ea typeface="Open Sans Bold" pitchFamily="34" charset="-122"/>
                <a:cs typeface="Open Sans Bold" pitchFamily="34" charset="-120"/>
              </a:rPr>
              <a:t>Mathugama</a:t>
            </a:r>
            <a:endParaRPr lang="en-US" sz="750" b="1" dirty="0">
              <a:solidFill>
                <a:srgbClr val="FFFFFF"/>
              </a:solidFill>
              <a:latin typeface="Open Sans Bold" pitchFamily="34" charset="0"/>
              <a:ea typeface="Open Sans Bold" pitchFamily="34" charset="-122"/>
              <a:cs typeface="Open Sans Bold" pitchFamily="34" charset="-120"/>
            </a:endParaRPr>
          </a:p>
          <a:p>
            <a:pPr marL="0" indent="0" algn="l">
              <a:lnSpc>
                <a:spcPct val="110000"/>
              </a:lnSpc>
              <a:buNone/>
            </a:pPr>
            <a:endParaRPr lang="en-US" sz="750" dirty="0"/>
          </a:p>
          <a:p>
            <a:pPr marL="0" indent="0" algn="l">
              <a:lnSpc>
                <a:spcPct val="110000"/>
              </a:lnSpc>
              <a:buNone/>
            </a:pPr>
            <a:r>
              <a:rPr lang="en-US" sz="750" dirty="0">
                <a:solidFill>
                  <a:srgbClr val="FFFFFF"/>
                </a:solidFill>
                <a:latin typeface="Open Sans" pitchFamily="34" charset="0"/>
                <a:ea typeface="Open Sans" pitchFamily="34" charset="-122"/>
                <a:cs typeface="Open Sans" pitchFamily="34" charset="-120"/>
              </a:rPr>
              <a:t>For payment confirmation, please contact via WhatsApp at +94 71 408 9493 or email at devlakruwan@gmail.com.</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0023" y="451172"/>
            <a:ext cx="8063954" cy="256133"/>
          </a:xfrm>
          <a:prstGeom prst="rect">
            <a:avLst/>
          </a:prstGeom>
          <a:noFill/>
          <a:ln/>
        </p:spPr>
        <p:txBody>
          <a:bodyPr wrap="none" lIns="0" tIns="0" rIns="0" bIns="0" rtlCol="0" anchor="t"/>
          <a:lstStyle/>
          <a:p>
            <a:pPr marL="0" indent="0" algn="l">
              <a:lnSpc>
                <a:spcPct val="104000"/>
              </a:lnSpc>
              <a:buNone/>
            </a:pPr>
            <a:r>
              <a:rPr lang="en-US" sz="1600" b="1" dirty="0">
                <a:solidFill>
                  <a:srgbClr val="333F70"/>
                </a:solidFill>
                <a:latin typeface="Unbounded Bold" pitchFamily="34" charset="0"/>
                <a:ea typeface="Unbounded Bold" pitchFamily="34" charset="-122"/>
                <a:cs typeface="Unbounded Bold" pitchFamily="34" charset="-120"/>
              </a:rPr>
              <a:t>Payment Agreement &amp; Client Approval</a:t>
            </a:r>
            <a:endParaRPr lang="en-US" sz="1600" dirty="0"/>
          </a:p>
        </p:txBody>
      </p:sp>
      <p:sp>
        <p:nvSpPr>
          <p:cNvPr id="3" name="Text 1"/>
          <p:cNvSpPr/>
          <p:nvPr/>
        </p:nvSpPr>
        <p:spPr>
          <a:xfrm>
            <a:off x="540023" y="794370"/>
            <a:ext cx="8063954" cy="200769"/>
          </a:xfrm>
          <a:prstGeom prst="rect">
            <a:avLst/>
          </a:prstGeom>
          <a:noFill/>
          <a:ln/>
        </p:spPr>
        <p:txBody>
          <a:bodyPr wrap="square" lIns="0" tIns="0" rIns="0" bIns="0" rtlCol="0" anchor="t">
            <a:normAutofit/>
          </a:bodyPr>
          <a:lstStyle/>
          <a:p>
            <a:pPr marL="0" indent="0" algn="l">
              <a:lnSpc>
                <a:spcPct val="102000"/>
              </a:lnSpc>
              <a:buNone/>
            </a:pPr>
            <a:r>
              <a:rPr lang="en-US" sz="600" dirty="0">
                <a:solidFill>
                  <a:srgbClr val="333F70"/>
                </a:solidFill>
                <a:latin typeface="Open Sans" pitchFamily="34" charset="0"/>
                <a:ea typeface="Open Sans" pitchFamily="34" charset="-122"/>
                <a:cs typeface="Open Sans" pitchFamily="34" charset="-120"/>
              </a:rPr>
              <a:t>By signing this invoice, the client confirms acceptance of the project scope, agreement to the payment schedule, and understanding of all terms outlined in this document. This approval authorizes the developer to continue development work upon receipt of the advance payment and establishes the formal working relationship between both parties.</a:t>
            </a:r>
            <a:endParaRPr lang="en-US" sz="6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0023" y="1044104"/>
            <a:ext cx="4010174" cy="774278"/>
          </a:xfrm>
          <a:prstGeom prst="rect">
            <a:avLst/>
          </a:prstGeom>
        </p:spPr>
      </p:pic>
      <p:sp>
        <p:nvSpPr>
          <p:cNvPr id="5" name="Text 2"/>
          <p:cNvSpPr/>
          <p:nvPr/>
        </p:nvSpPr>
        <p:spPr>
          <a:xfrm>
            <a:off x="2495922" y="1105570"/>
            <a:ext cx="98301" cy="122932"/>
          </a:xfrm>
          <a:prstGeom prst="rect">
            <a:avLst/>
          </a:prstGeom>
          <a:noFill/>
          <a:ln/>
        </p:spPr>
        <p:txBody>
          <a:bodyPr wrap="none" lIns="0" tIns="0" rIns="0" bIns="0" rtlCol="0" anchor="ctr"/>
          <a:lstStyle/>
          <a:p>
            <a:pPr marL="0" indent="0" algn="ctr">
              <a:lnSpc>
                <a:spcPct val="100000"/>
              </a:lnSpc>
              <a:buNone/>
            </a:pPr>
            <a:r>
              <a:rPr lang="en-US" sz="750" b="1" dirty="0">
                <a:solidFill>
                  <a:srgbClr val="FFFFFF"/>
                </a:solidFill>
                <a:latin typeface="Unbounded Bold" pitchFamily="34" charset="0"/>
                <a:ea typeface="Unbounded Bold" pitchFamily="34" charset="-122"/>
                <a:cs typeface="Unbounded Bold" pitchFamily="34" charset="-120"/>
              </a:rPr>
              <a:t>1</a:t>
            </a:r>
            <a:endParaRPr lang="en-US" sz="750" dirty="0"/>
          </a:p>
        </p:txBody>
      </p:sp>
      <p:sp>
        <p:nvSpPr>
          <p:cNvPr id="6" name="Text 3"/>
          <p:cNvSpPr/>
          <p:nvPr/>
        </p:nvSpPr>
        <p:spPr>
          <a:xfrm>
            <a:off x="631478" y="1371972"/>
            <a:ext cx="3827264" cy="128067"/>
          </a:xfrm>
          <a:prstGeom prst="rect">
            <a:avLst/>
          </a:prstGeom>
          <a:noFill/>
          <a:ln/>
        </p:spPr>
        <p:txBody>
          <a:bodyPr wrap="none" lIns="0" tIns="0" rIns="0" bIns="0" rtlCol="0" anchor="t"/>
          <a:lstStyle/>
          <a:p>
            <a:pPr marL="0" indent="0" algn="l">
              <a:lnSpc>
                <a:spcPct val="104000"/>
              </a:lnSpc>
              <a:buNone/>
            </a:pPr>
            <a:r>
              <a:rPr lang="en-US" sz="800" b="1" dirty="0">
                <a:solidFill>
                  <a:srgbClr val="333F70"/>
                </a:solidFill>
                <a:latin typeface="Unbounded Bold" pitchFamily="34" charset="0"/>
                <a:ea typeface="Unbounded Bold" pitchFamily="34" charset="-122"/>
                <a:cs typeface="Unbounded Bold" pitchFamily="34" charset="-120"/>
              </a:rPr>
              <a:t>Acceptance of Project Scope</a:t>
            </a:r>
            <a:endParaRPr lang="en-US" sz="800" dirty="0"/>
          </a:p>
        </p:txBody>
      </p:sp>
      <p:sp>
        <p:nvSpPr>
          <p:cNvPr id="7" name="Text 4"/>
          <p:cNvSpPr/>
          <p:nvPr/>
        </p:nvSpPr>
        <p:spPr>
          <a:xfrm>
            <a:off x="631478" y="1526158"/>
            <a:ext cx="3827264" cy="200769"/>
          </a:xfrm>
          <a:prstGeom prst="rect">
            <a:avLst/>
          </a:prstGeom>
          <a:noFill/>
          <a:ln/>
        </p:spPr>
        <p:txBody>
          <a:bodyPr wrap="square" lIns="0" tIns="0" rIns="0" bIns="0" rtlCol="0" anchor="t">
            <a:normAutofit/>
          </a:bodyPr>
          <a:lstStyle/>
          <a:p>
            <a:pPr marL="0" indent="0" algn="l">
              <a:lnSpc>
                <a:spcPct val="102000"/>
              </a:lnSpc>
              <a:buNone/>
            </a:pPr>
            <a:r>
              <a:rPr lang="en-US" sz="600" dirty="0">
                <a:solidFill>
                  <a:srgbClr val="333F70"/>
                </a:solidFill>
                <a:latin typeface="Open Sans" pitchFamily="34" charset="0"/>
                <a:ea typeface="Open Sans" pitchFamily="34" charset="-122"/>
                <a:cs typeface="Open Sans" pitchFamily="34" charset="-120"/>
              </a:rPr>
              <a:t>Client confirms that the project scope described in this invoice accurately reflects the agreed-upon deliverables and development work.</a:t>
            </a:r>
            <a:endParaRPr lang="en-US" sz="6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93729" y="1044104"/>
            <a:ext cx="4010248" cy="774278"/>
          </a:xfrm>
          <a:prstGeom prst="rect">
            <a:avLst/>
          </a:prstGeom>
        </p:spPr>
      </p:pic>
      <p:sp>
        <p:nvSpPr>
          <p:cNvPr id="9" name="Text 5"/>
          <p:cNvSpPr/>
          <p:nvPr/>
        </p:nvSpPr>
        <p:spPr>
          <a:xfrm>
            <a:off x="6549628" y="1105570"/>
            <a:ext cx="98301" cy="122932"/>
          </a:xfrm>
          <a:prstGeom prst="rect">
            <a:avLst/>
          </a:prstGeom>
          <a:noFill/>
          <a:ln/>
        </p:spPr>
        <p:txBody>
          <a:bodyPr wrap="none" lIns="0" tIns="0" rIns="0" bIns="0" rtlCol="0" anchor="ctr"/>
          <a:lstStyle/>
          <a:p>
            <a:pPr marL="0" indent="0" algn="ctr">
              <a:lnSpc>
                <a:spcPct val="100000"/>
              </a:lnSpc>
              <a:buNone/>
            </a:pPr>
            <a:r>
              <a:rPr lang="en-US" sz="750" b="1" dirty="0">
                <a:solidFill>
                  <a:srgbClr val="FFFFFF"/>
                </a:solidFill>
                <a:latin typeface="Unbounded Bold" pitchFamily="34" charset="0"/>
                <a:ea typeface="Unbounded Bold" pitchFamily="34" charset="-122"/>
                <a:cs typeface="Unbounded Bold" pitchFamily="34" charset="-120"/>
              </a:rPr>
              <a:t>2</a:t>
            </a:r>
            <a:endParaRPr lang="en-US" sz="750" dirty="0"/>
          </a:p>
        </p:txBody>
      </p:sp>
      <p:sp>
        <p:nvSpPr>
          <p:cNvPr id="10" name="Text 6"/>
          <p:cNvSpPr/>
          <p:nvPr/>
        </p:nvSpPr>
        <p:spPr>
          <a:xfrm>
            <a:off x="4685184" y="1371972"/>
            <a:ext cx="3827338" cy="128067"/>
          </a:xfrm>
          <a:prstGeom prst="rect">
            <a:avLst/>
          </a:prstGeom>
          <a:noFill/>
          <a:ln/>
        </p:spPr>
        <p:txBody>
          <a:bodyPr wrap="none" lIns="0" tIns="0" rIns="0" bIns="0" rtlCol="0" anchor="t"/>
          <a:lstStyle/>
          <a:p>
            <a:pPr marL="0" indent="0" algn="l">
              <a:lnSpc>
                <a:spcPct val="104000"/>
              </a:lnSpc>
              <a:buNone/>
            </a:pPr>
            <a:r>
              <a:rPr lang="en-US" sz="800" b="1" dirty="0">
                <a:solidFill>
                  <a:srgbClr val="333F70"/>
                </a:solidFill>
                <a:latin typeface="Unbounded Bold" pitchFamily="34" charset="0"/>
                <a:ea typeface="Unbounded Bold" pitchFamily="34" charset="-122"/>
                <a:cs typeface="Unbounded Bold" pitchFamily="34" charset="-120"/>
              </a:rPr>
              <a:t>Agreement to Payment Schedule</a:t>
            </a:r>
            <a:endParaRPr lang="en-US" sz="800" dirty="0"/>
          </a:p>
        </p:txBody>
      </p:sp>
      <p:sp>
        <p:nvSpPr>
          <p:cNvPr id="11" name="Text 7"/>
          <p:cNvSpPr/>
          <p:nvPr/>
        </p:nvSpPr>
        <p:spPr>
          <a:xfrm>
            <a:off x="4685184" y="1526158"/>
            <a:ext cx="3827338" cy="200769"/>
          </a:xfrm>
          <a:prstGeom prst="rect">
            <a:avLst/>
          </a:prstGeom>
          <a:noFill/>
          <a:ln/>
        </p:spPr>
        <p:txBody>
          <a:bodyPr wrap="square" lIns="0" tIns="0" rIns="0" bIns="0" rtlCol="0" anchor="t">
            <a:normAutofit/>
          </a:bodyPr>
          <a:lstStyle/>
          <a:p>
            <a:pPr marL="0" indent="0" algn="l">
              <a:lnSpc>
                <a:spcPct val="102000"/>
              </a:lnSpc>
              <a:buNone/>
            </a:pPr>
            <a:r>
              <a:rPr lang="en-US" sz="600" dirty="0">
                <a:solidFill>
                  <a:srgbClr val="333F70"/>
                </a:solidFill>
                <a:latin typeface="Open Sans" pitchFamily="34" charset="0"/>
                <a:ea typeface="Open Sans" pitchFamily="34" charset="-122"/>
                <a:cs typeface="Open Sans" pitchFamily="34" charset="-120"/>
              </a:rPr>
              <a:t>Client agrees to the two-phase payment structure: LKR 10,000 advance and LKR 20,000 upon final delivery.</a:t>
            </a:r>
            <a:endParaRPr lang="en-US" sz="6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0023" y="1861914"/>
            <a:ext cx="4010174" cy="774278"/>
          </a:xfrm>
          <a:prstGeom prst="rect">
            <a:avLst/>
          </a:prstGeom>
        </p:spPr>
      </p:pic>
      <p:sp>
        <p:nvSpPr>
          <p:cNvPr id="13" name="Text 8"/>
          <p:cNvSpPr/>
          <p:nvPr/>
        </p:nvSpPr>
        <p:spPr>
          <a:xfrm>
            <a:off x="2495922" y="1923380"/>
            <a:ext cx="98301" cy="122932"/>
          </a:xfrm>
          <a:prstGeom prst="rect">
            <a:avLst/>
          </a:prstGeom>
          <a:noFill/>
          <a:ln/>
        </p:spPr>
        <p:txBody>
          <a:bodyPr wrap="none" lIns="0" tIns="0" rIns="0" bIns="0" rtlCol="0" anchor="ctr"/>
          <a:lstStyle/>
          <a:p>
            <a:pPr marL="0" indent="0" algn="ctr">
              <a:lnSpc>
                <a:spcPct val="100000"/>
              </a:lnSpc>
              <a:buNone/>
            </a:pPr>
            <a:r>
              <a:rPr lang="en-US" sz="750" b="1" dirty="0">
                <a:solidFill>
                  <a:srgbClr val="FFFFFF"/>
                </a:solidFill>
                <a:latin typeface="Unbounded Bold" pitchFamily="34" charset="0"/>
                <a:ea typeface="Unbounded Bold" pitchFamily="34" charset="-122"/>
                <a:cs typeface="Unbounded Bold" pitchFamily="34" charset="-120"/>
              </a:rPr>
              <a:t>3</a:t>
            </a:r>
            <a:endParaRPr lang="en-US" sz="750" dirty="0"/>
          </a:p>
        </p:txBody>
      </p:sp>
      <p:sp>
        <p:nvSpPr>
          <p:cNvPr id="14" name="Text 9"/>
          <p:cNvSpPr/>
          <p:nvPr/>
        </p:nvSpPr>
        <p:spPr>
          <a:xfrm>
            <a:off x="631478" y="2189783"/>
            <a:ext cx="3827264" cy="128067"/>
          </a:xfrm>
          <a:prstGeom prst="rect">
            <a:avLst/>
          </a:prstGeom>
          <a:noFill/>
          <a:ln/>
        </p:spPr>
        <p:txBody>
          <a:bodyPr wrap="none" lIns="0" tIns="0" rIns="0" bIns="0" rtlCol="0" anchor="t"/>
          <a:lstStyle/>
          <a:p>
            <a:pPr marL="0" indent="0" algn="l">
              <a:lnSpc>
                <a:spcPct val="104000"/>
              </a:lnSpc>
              <a:buNone/>
            </a:pPr>
            <a:r>
              <a:rPr lang="en-US" sz="800" b="1" dirty="0">
                <a:solidFill>
                  <a:srgbClr val="333F70"/>
                </a:solidFill>
                <a:latin typeface="Unbounded Bold" pitchFamily="34" charset="0"/>
                <a:ea typeface="Unbounded Bold" pitchFamily="34" charset="-122"/>
                <a:cs typeface="Unbounded Bold" pitchFamily="34" charset="-120"/>
              </a:rPr>
              <a:t>Authorization to Continue Development</a:t>
            </a:r>
            <a:endParaRPr lang="en-US" sz="800" dirty="0"/>
          </a:p>
        </p:txBody>
      </p:sp>
      <p:sp>
        <p:nvSpPr>
          <p:cNvPr id="15" name="Text 10"/>
          <p:cNvSpPr/>
          <p:nvPr/>
        </p:nvSpPr>
        <p:spPr>
          <a:xfrm>
            <a:off x="631478" y="2343969"/>
            <a:ext cx="3827264" cy="200769"/>
          </a:xfrm>
          <a:prstGeom prst="rect">
            <a:avLst/>
          </a:prstGeom>
          <a:noFill/>
          <a:ln/>
        </p:spPr>
        <p:txBody>
          <a:bodyPr wrap="square" lIns="0" tIns="0" rIns="0" bIns="0" rtlCol="0" anchor="t">
            <a:normAutofit/>
          </a:bodyPr>
          <a:lstStyle/>
          <a:p>
            <a:pPr marL="0" indent="0" algn="l">
              <a:lnSpc>
                <a:spcPct val="102000"/>
              </a:lnSpc>
              <a:buNone/>
            </a:pPr>
            <a:r>
              <a:rPr lang="en-US" sz="600" dirty="0">
                <a:solidFill>
                  <a:srgbClr val="333F70"/>
                </a:solidFill>
                <a:latin typeface="Open Sans" pitchFamily="34" charset="0"/>
                <a:ea typeface="Open Sans" pitchFamily="34" charset="-122"/>
                <a:cs typeface="Open Sans" pitchFamily="34" charset="-120"/>
              </a:rPr>
              <a:t>Client authorizes the developer to proceed with all remaining development activities upon receipt of the advance payment.</a:t>
            </a:r>
            <a:endParaRPr lang="en-US" sz="6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93729" y="1861914"/>
            <a:ext cx="4010248" cy="774278"/>
          </a:xfrm>
          <a:prstGeom prst="rect">
            <a:avLst/>
          </a:prstGeom>
        </p:spPr>
      </p:pic>
      <p:sp>
        <p:nvSpPr>
          <p:cNvPr id="17" name="Text 11"/>
          <p:cNvSpPr/>
          <p:nvPr/>
        </p:nvSpPr>
        <p:spPr>
          <a:xfrm>
            <a:off x="6549628" y="1923380"/>
            <a:ext cx="98301" cy="122932"/>
          </a:xfrm>
          <a:prstGeom prst="rect">
            <a:avLst/>
          </a:prstGeom>
          <a:noFill/>
          <a:ln/>
        </p:spPr>
        <p:txBody>
          <a:bodyPr wrap="none" lIns="0" tIns="0" rIns="0" bIns="0" rtlCol="0" anchor="ctr"/>
          <a:lstStyle/>
          <a:p>
            <a:pPr marL="0" indent="0" algn="ctr">
              <a:lnSpc>
                <a:spcPct val="100000"/>
              </a:lnSpc>
              <a:buNone/>
            </a:pPr>
            <a:r>
              <a:rPr lang="en-US" sz="750" b="1" dirty="0">
                <a:solidFill>
                  <a:srgbClr val="FFFFFF"/>
                </a:solidFill>
                <a:latin typeface="Unbounded Bold" pitchFamily="34" charset="0"/>
                <a:ea typeface="Unbounded Bold" pitchFamily="34" charset="-122"/>
                <a:cs typeface="Unbounded Bold" pitchFamily="34" charset="-120"/>
              </a:rPr>
              <a:t>4</a:t>
            </a:r>
            <a:endParaRPr lang="en-US" sz="750" dirty="0"/>
          </a:p>
        </p:txBody>
      </p:sp>
      <p:sp>
        <p:nvSpPr>
          <p:cNvPr id="18" name="Text 12"/>
          <p:cNvSpPr/>
          <p:nvPr/>
        </p:nvSpPr>
        <p:spPr>
          <a:xfrm>
            <a:off x="4685184" y="2189783"/>
            <a:ext cx="3827338" cy="128067"/>
          </a:xfrm>
          <a:prstGeom prst="rect">
            <a:avLst/>
          </a:prstGeom>
          <a:noFill/>
          <a:ln/>
        </p:spPr>
        <p:txBody>
          <a:bodyPr wrap="none" lIns="0" tIns="0" rIns="0" bIns="0" rtlCol="0" anchor="t"/>
          <a:lstStyle/>
          <a:p>
            <a:pPr marL="0" indent="0" algn="l">
              <a:lnSpc>
                <a:spcPct val="104000"/>
              </a:lnSpc>
              <a:buNone/>
            </a:pPr>
            <a:r>
              <a:rPr lang="en-US" sz="800" b="1" dirty="0">
                <a:solidFill>
                  <a:srgbClr val="333F70"/>
                </a:solidFill>
                <a:latin typeface="Unbounded Bold" pitchFamily="34" charset="0"/>
                <a:ea typeface="Unbounded Bold" pitchFamily="34" charset="-122"/>
                <a:cs typeface="Unbounded Bold" pitchFamily="34" charset="-120"/>
              </a:rPr>
              <a:t>Understanding of Warranty &amp; Support Terms</a:t>
            </a:r>
            <a:endParaRPr lang="en-US" sz="800" dirty="0"/>
          </a:p>
        </p:txBody>
      </p:sp>
      <p:sp>
        <p:nvSpPr>
          <p:cNvPr id="19" name="Text 13"/>
          <p:cNvSpPr/>
          <p:nvPr/>
        </p:nvSpPr>
        <p:spPr>
          <a:xfrm>
            <a:off x="4685184" y="2343969"/>
            <a:ext cx="3827338" cy="200769"/>
          </a:xfrm>
          <a:prstGeom prst="rect">
            <a:avLst/>
          </a:prstGeom>
          <a:noFill/>
          <a:ln/>
        </p:spPr>
        <p:txBody>
          <a:bodyPr wrap="square" lIns="0" tIns="0" rIns="0" bIns="0" rtlCol="0" anchor="t">
            <a:normAutofit/>
          </a:bodyPr>
          <a:lstStyle/>
          <a:p>
            <a:pPr marL="0" indent="0" algn="l">
              <a:lnSpc>
                <a:spcPct val="102000"/>
              </a:lnSpc>
              <a:buNone/>
            </a:pPr>
            <a:r>
              <a:rPr lang="en-US" sz="600" dirty="0">
                <a:solidFill>
                  <a:srgbClr val="333F70"/>
                </a:solidFill>
                <a:latin typeface="Open Sans" pitchFamily="34" charset="0"/>
                <a:ea typeface="Open Sans" pitchFamily="34" charset="-122"/>
                <a:cs typeface="Open Sans" pitchFamily="34" charset="-120"/>
              </a:rPr>
              <a:t>Client acknowledges and understands the 30-day warranty terms and the optional monthly maintenance plan available thereafter.</a:t>
            </a:r>
            <a:endParaRPr lang="en-US" sz="600" dirty="0"/>
          </a:p>
        </p:txBody>
      </p:sp>
      <p:sp>
        <p:nvSpPr>
          <p:cNvPr id="20" name="Text 14"/>
          <p:cNvSpPr/>
          <p:nvPr/>
        </p:nvSpPr>
        <p:spPr>
          <a:xfrm>
            <a:off x="540023" y="2728689"/>
            <a:ext cx="3932039" cy="128067"/>
          </a:xfrm>
          <a:prstGeom prst="rect">
            <a:avLst/>
          </a:prstGeom>
          <a:noFill/>
          <a:ln/>
        </p:spPr>
        <p:txBody>
          <a:bodyPr wrap="none" lIns="0" tIns="0" rIns="0" bIns="0" rtlCol="0" anchor="t"/>
          <a:lstStyle/>
          <a:p>
            <a:pPr marL="0" indent="0" algn="l">
              <a:lnSpc>
                <a:spcPct val="104000"/>
              </a:lnSpc>
              <a:buNone/>
            </a:pPr>
            <a:r>
              <a:rPr lang="en-US" sz="800" b="1" dirty="0">
                <a:solidFill>
                  <a:srgbClr val="333F70"/>
                </a:solidFill>
                <a:latin typeface="Unbounded Bold" pitchFamily="34" charset="0"/>
                <a:ea typeface="Unbounded Bold" pitchFamily="34" charset="-122"/>
                <a:cs typeface="Unbounded Bold" pitchFamily="34" charset="-120"/>
              </a:rPr>
              <a:t>Client Approval</a:t>
            </a:r>
            <a:endParaRPr lang="en-US" sz="800" dirty="0"/>
          </a:p>
        </p:txBody>
      </p:sp>
      <p:sp>
        <p:nvSpPr>
          <p:cNvPr id="21" name="Text 15"/>
          <p:cNvSpPr/>
          <p:nvPr/>
        </p:nvSpPr>
        <p:spPr>
          <a:xfrm>
            <a:off x="540023" y="2900288"/>
            <a:ext cx="3932039" cy="558404"/>
          </a:xfrm>
          <a:prstGeom prst="rect">
            <a:avLst/>
          </a:prstGeom>
          <a:noFill/>
          <a:ln/>
        </p:spPr>
        <p:txBody>
          <a:bodyPr wrap="square" lIns="0" tIns="0" rIns="0" bIns="0" rtlCol="0" anchor="t"/>
          <a:lstStyle/>
          <a:p>
            <a:pPr marL="0" indent="0" algn="l">
              <a:lnSpc>
                <a:spcPct val="102000"/>
              </a:lnSpc>
              <a:buNone/>
            </a:pPr>
            <a:r>
              <a:rPr lang="en-US" sz="600" b="1" dirty="0">
                <a:solidFill>
                  <a:srgbClr val="333F70"/>
                </a:solidFill>
                <a:latin typeface="Open Sans Bold" pitchFamily="34" charset="0"/>
                <a:ea typeface="Open Sans Bold" pitchFamily="34" charset="-122"/>
                <a:cs typeface="Open Sans Bold" pitchFamily="34" charset="-120"/>
              </a:rPr>
              <a:t>Client Name:</a:t>
            </a:r>
            <a:r>
              <a:rPr lang="en-US" sz="600" dirty="0">
                <a:solidFill>
                  <a:srgbClr val="333F70"/>
                </a:solidFill>
                <a:latin typeface="Open Sans" pitchFamily="34" charset="0"/>
                <a:ea typeface="Open Sans" pitchFamily="34" charset="-122"/>
                <a:cs typeface="Open Sans" pitchFamily="34" charset="-120"/>
              </a:rPr>
              <a:t> _________________</a:t>
            </a:r>
            <a:endParaRPr lang="en-US" sz="600" dirty="0"/>
          </a:p>
          <a:p>
            <a:pPr marL="0" indent="0" algn="l">
              <a:lnSpc>
                <a:spcPct val="102000"/>
              </a:lnSpc>
              <a:buNone/>
            </a:pPr>
            <a:r>
              <a:rPr lang="en-US" sz="600" b="1" dirty="0">
                <a:solidFill>
                  <a:srgbClr val="333F70"/>
                </a:solidFill>
                <a:latin typeface="Open Sans Bold" pitchFamily="34" charset="0"/>
                <a:ea typeface="Open Sans Bold" pitchFamily="34" charset="-122"/>
                <a:cs typeface="Open Sans Bold" pitchFamily="34" charset="-120"/>
              </a:rPr>
              <a:t>Signature:</a:t>
            </a:r>
            <a:r>
              <a:rPr lang="en-US" sz="600" dirty="0">
                <a:solidFill>
                  <a:srgbClr val="333F70"/>
                </a:solidFill>
                <a:latin typeface="Open Sans" pitchFamily="34" charset="0"/>
                <a:ea typeface="Open Sans" pitchFamily="34" charset="-122"/>
                <a:cs typeface="Open Sans" pitchFamily="34" charset="-120"/>
              </a:rPr>
              <a:t> ___________________</a:t>
            </a:r>
            <a:endParaRPr lang="en-US" sz="600" dirty="0"/>
          </a:p>
          <a:p>
            <a:pPr marL="0" indent="0" algn="l">
              <a:lnSpc>
                <a:spcPct val="102000"/>
              </a:lnSpc>
              <a:buNone/>
            </a:pPr>
            <a:r>
              <a:rPr lang="en-US" sz="600" b="1" dirty="0">
                <a:solidFill>
                  <a:srgbClr val="333F70"/>
                </a:solidFill>
                <a:latin typeface="Open Sans Bold" pitchFamily="34" charset="0"/>
                <a:ea typeface="Open Sans Bold" pitchFamily="34" charset="-122"/>
                <a:cs typeface="Open Sans Bold" pitchFamily="34" charset="-120"/>
              </a:rPr>
              <a:t>Date:</a:t>
            </a:r>
            <a:r>
              <a:rPr lang="en-US" sz="600" dirty="0">
                <a:solidFill>
                  <a:srgbClr val="333F70"/>
                </a:solidFill>
                <a:latin typeface="Open Sans" pitchFamily="34" charset="0"/>
                <a:ea typeface="Open Sans" pitchFamily="34" charset="-122"/>
                <a:cs typeface="Open Sans" pitchFamily="34" charset="-120"/>
              </a:rPr>
              <a:t> ___________________</a:t>
            </a:r>
            <a:endParaRPr lang="en-US" sz="600" dirty="0"/>
          </a:p>
        </p:txBody>
      </p:sp>
      <p:sp>
        <p:nvSpPr>
          <p:cNvPr id="22" name="Shape 16"/>
          <p:cNvSpPr/>
          <p:nvPr/>
        </p:nvSpPr>
        <p:spPr>
          <a:xfrm>
            <a:off x="4593729" y="2665477"/>
            <a:ext cx="4050060" cy="1384137"/>
          </a:xfrm>
          <a:prstGeom prst="roundRect">
            <a:avLst>
              <a:gd name="adj" fmla="val 3612"/>
            </a:avLst>
          </a:prstGeom>
          <a:solidFill>
            <a:srgbClr val="26A688"/>
          </a:solidFill>
          <a:ln/>
        </p:spPr>
        <p:txBody>
          <a:bodyPr/>
          <a:lstStyle/>
          <a:p>
            <a:endParaRPr lang="en-US" dirty="0"/>
          </a:p>
        </p:txBody>
      </p:sp>
      <p:sp>
        <p:nvSpPr>
          <p:cNvPr id="23" name="Text 17"/>
          <p:cNvSpPr/>
          <p:nvPr/>
        </p:nvSpPr>
        <p:spPr>
          <a:xfrm>
            <a:off x="4699620" y="2728689"/>
            <a:ext cx="3886200" cy="128067"/>
          </a:xfrm>
          <a:prstGeom prst="rect">
            <a:avLst/>
          </a:prstGeom>
          <a:noFill/>
          <a:ln/>
        </p:spPr>
        <p:txBody>
          <a:bodyPr wrap="none" lIns="0" tIns="0" rIns="0" bIns="0" rtlCol="0" anchor="t"/>
          <a:lstStyle/>
          <a:p>
            <a:pPr marL="0" indent="0" algn="l">
              <a:lnSpc>
                <a:spcPct val="104000"/>
              </a:lnSpc>
              <a:buNone/>
            </a:pPr>
            <a:r>
              <a:rPr lang="en-US" sz="800" b="1" dirty="0">
                <a:solidFill>
                  <a:srgbClr val="000000"/>
                </a:solidFill>
                <a:latin typeface="Unbounded Bold" pitchFamily="34" charset="0"/>
                <a:ea typeface="Unbounded Bold" pitchFamily="34" charset="-122"/>
                <a:cs typeface="Unbounded Bold" pitchFamily="34" charset="-120"/>
              </a:rPr>
              <a:t>Prepared By</a:t>
            </a:r>
            <a:endParaRPr lang="en-US" sz="800" dirty="0"/>
          </a:p>
        </p:txBody>
      </p:sp>
      <p:sp>
        <p:nvSpPr>
          <p:cNvPr id="24" name="Text 18"/>
          <p:cNvSpPr/>
          <p:nvPr/>
        </p:nvSpPr>
        <p:spPr>
          <a:xfrm>
            <a:off x="4699620" y="2900288"/>
            <a:ext cx="3886200" cy="890885"/>
          </a:xfrm>
          <a:prstGeom prst="rect">
            <a:avLst/>
          </a:prstGeom>
          <a:noFill/>
          <a:ln/>
        </p:spPr>
        <p:txBody>
          <a:bodyPr wrap="square" lIns="0" tIns="0" rIns="0" bIns="0" rtlCol="0" anchor="t">
            <a:normAutofit/>
          </a:bodyPr>
          <a:lstStyle/>
          <a:p>
            <a:pPr marL="0" indent="0" algn="l">
              <a:lnSpc>
                <a:spcPct val="102000"/>
              </a:lnSpc>
              <a:buNone/>
            </a:pPr>
            <a:r>
              <a:rPr lang="en-US" sz="600" b="1" dirty="0">
                <a:solidFill>
                  <a:srgbClr val="000000"/>
                </a:solidFill>
                <a:latin typeface="Open Sans Bold" pitchFamily="34" charset="0"/>
                <a:ea typeface="Open Sans Bold" pitchFamily="34" charset="-122"/>
                <a:cs typeface="Open Sans Bold" pitchFamily="34" charset="-120"/>
              </a:rPr>
              <a:t>Dulanjaya Lakruwan</a:t>
            </a:r>
            <a:endParaRPr lang="en-US" sz="600" dirty="0"/>
          </a:p>
          <a:p>
            <a:pPr marL="0" indent="0" algn="l">
              <a:lnSpc>
                <a:spcPct val="102000"/>
              </a:lnSpc>
              <a:spcAft>
                <a:spcPts val="300"/>
              </a:spcAft>
              <a:buNone/>
            </a:pPr>
            <a:r>
              <a:rPr lang="en-US" sz="600" dirty="0">
                <a:solidFill>
                  <a:srgbClr val="000000"/>
                </a:solidFill>
                <a:latin typeface="Open Sans" pitchFamily="34" charset="0"/>
                <a:ea typeface="Open Sans" pitchFamily="34" charset="-122"/>
                <a:cs typeface="Open Sans" pitchFamily="34" charset="-120"/>
              </a:rPr>
              <a:t>Full Stack Software Developer</a:t>
            </a:r>
            <a:endParaRPr lang="en-US" sz="600" dirty="0"/>
          </a:p>
          <a:p>
            <a:pPr marL="0" indent="0" algn="l">
              <a:lnSpc>
                <a:spcPct val="102000"/>
              </a:lnSpc>
              <a:buNone/>
            </a:pPr>
            <a:r>
              <a:rPr lang="en-US" sz="600" dirty="0">
                <a:solidFill>
                  <a:srgbClr val="000000"/>
                </a:solidFill>
                <a:latin typeface="Open Sans" pitchFamily="34" charset="0"/>
                <a:ea typeface="Open Sans" pitchFamily="34" charset="-122"/>
                <a:cs typeface="Open Sans" pitchFamily="34" charset="-120"/>
              </a:rPr>
              <a:t>📧 devlakruwan@gmail.com</a:t>
            </a:r>
            <a:endParaRPr lang="en-US" sz="600" dirty="0"/>
          </a:p>
          <a:p>
            <a:pPr marL="0" indent="0" algn="l">
              <a:lnSpc>
                <a:spcPct val="102000"/>
              </a:lnSpc>
              <a:buNone/>
            </a:pPr>
            <a:r>
              <a:rPr lang="en-US" sz="600" dirty="0">
                <a:solidFill>
                  <a:srgbClr val="000000"/>
                </a:solidFill>
                <a:latin typeface="Open Sans" pitchFamily="34" charset="0"/>
                <a:ea typeface="Open Sans" pitchFamily="34" charset="-122"/>
                <a:cs typeface="Open Sans" pitchFamily="34" charset="-120"/>
              </a:rPr>
              <a:t>📱 WhatsApp: +94 71 408 9493</a:t>
            </a:r>
            <a:endParaRPr lang="en-US" sz="600" dirty="0"/>
          </a:p>
        </p:txBody>
      </p:sp>
      <p:sp>
        <p:nvSpPr>
          <p:cNvPr id="25" name="Shape 19"/>
          <p:cNvSpPr/>
          <p:nvPr/>
        </p:nvSpPr>
        <p:spPr>
          <a:xfrm>
            <a:off x="4699620" y="3860602"/>
            <a:ext cx="3886200" cy="9525"/>
          </a:xfrm>
          <a:prstGeom prst="roundRect">
            <a:avLst>
              <a:gd name="adj" fmla="val 60000"/>
            </a:avLst>
          </a:prstGeom>
          <a:solidFill>
            <a:srgbClr val="000000">
              <a:alpha val="50000"/>
            </a:srgbClr>
          </a:solidFill>
          <a:ln/>
        </p:spPr>
      </p:sp>
      <p:sp>
        <p:nvSpPr>
          <p:cNvPr id="26" name="Text 20"/>
          <p:cNvSpPr/>
          <p:nvPr/>
        </p:nvSpPr>
        <p:spPr>
          <a:xfrm>
            <a:off x="4699620" y="3458691"/>
            <a:ext cx="3886200" cy="821159"/>
          </a:xfrm>
          <a:prstGeom prst="rect">
            <a:avLst/>
          </a:prstGeom>
          <a:noFill/>
          <a:ln/>
        </p:spPr>
        <p:txBody>
          <a:bodyPr wrap="square" lIns="0" tIns="0" rIns="0" bIns="0" rtlCol="0" anchor="t"/>
          <a:lstStyle/>
          <a:p>
            <a:pPr marL="0" indent="0" algn="l">
              <a:lnSpc>
                <a:spcPct val="102000"/>
              </a:lnSpc>
              <a:spcAft>
                <a:spcPts val="300"/>
              </a:spcAft>
              <a:buNone/>
            </a:pPr>
            <a:r>
              <a:rPr lang="en-US" sz="600" b="1" dirty="0">
                <a:solidFill>
                  <a:srgbClr val="000000"/>
                </a:solidFill>
                <a:latin typeface="Open Sans Bold" pitchFamily="34" charset="0"/>
                <a:ea typeface="Open Sans Bold" pitchFamily="34" charset="-122"/>
                <a:cs typeface="Open Sans Bold" pitchFamily="34" charset="-120"/>
              </a:rPr>
              <a:t>Thank You</a:t>
            </a:r>
            <a:endParaRPr lang="en-US" sz="600" dirty="0"/>
          </a:p>
          <a:p>
            <a:pPr marL="0" indent="0" algn="l">
              <a:lnSpc>
                <a:spcPct val="102000"/>
              </a:lnSpc>
              <a:buNone/>
            </a:pPr>
            <a:r>
              <a:rPr lang="en-US" sz="600" dirty="0">
                <a:solidFill>
                  <a:srgbClr val="000000"/>
                </a:solidFill>
                <a:latin typeface="Open Sans" pitchFamily="34" charset="0"/>
                <a:ea typeface="Open Sans" pitchFamily="34" charset="-122"/>
                <a:cs typeface="Open Sans" pitchFamily="34" charset="-120"/>
              </a:rPr>
              <a:t>Thank you for trusting Dulanjaya Lakruwan to build the </a:t>
            </a:r>
            <a:r>
              <a:rPr lang="en-US" sz="600" b="1" dirty="0">
                <a:solidFill>
                  <a:srgbClr val="000000"/>
                </a:solidFill>
                <a:latin typeface="Open Sans Bold" pitchFamily="34" charset="0"/>
                <a:ea typeface="Open Sans Bold" pitchFamily="34" charset="-122"/>
                <a:cs typeface="Open Sans Bold" pitchFamily="34" charset="-120"/>
              </a:rPr>
              <a:t>Juice Vibe Waskaduwa Digital Platform</a:t>
            </a:r>
            <a:r>
              <a:rPr lang="en-US" sz="600" dirty="0">
                <a:solidFill>
                  <a:srgbClr val="000000"/>
                </a:solidFill>
                <a:latin typeface="Open Sans" pitchFamily="34" charset="0"/>
                <a:ea typeface="Open Sans" pitchFamily="34" charset="-122"/>
                <a:cs typeface="Open Sans" pitchFamily="34" charset="-120"/>
              </a:rPr>
              <a:t>. We look forward to supporting the growth and digital success of your business.</a:t>
            </a:r>
            <a:endParaRPr lang="en-US" sz="600" dirty="0"/>
          </a:p>
        </p:txBody>
      </p:sp>
      <p:sp>
        <p:nvSpPr>
          <p:cNvPr id="27" name="Shape 21"/>
          <p:cNvSpPr/>
          <p:nvPr/>
        </p:nvSpPr>
        <p:spPr>
          <a:xfrm>
            <a:off x="579835" y="4219116"/>
            <a:ext cx="8063954" cy="324371"/>
          </a:xfrm>
          <a:prstGeom prst="roundRect">
            <a:avLst>
              <a:gd name="adj" fmla="val 6880"/>
            </a:avLst>
          </a:prstGeom>
          <a:solidFill>
            <a:srgbClr val="D6F5EE"/>
          </a:solidFill>
          <a:ln/>
        </p:spPr>
      </p:sp>
      <p:pic>
        <p:nvPicPr>
          <p:cNvPr id="28" name="Image 4" descr="preencoded.png"/>
          <p:cNvPicPr>
            <a:picLocks noChangeAspect="1"/>
          </p:cNvPicPr>
          <p:nvPr/>
        </p:nvPicPr>
        <p:blipFill>
          <a:blip r:embed="rId4"/>
          <a:stretch>
            <a:fillRect/>
          </a:stretch>
        </p:blipFill>
        <p:spPr>
          <a:xfrm>
            <a:off x="621953" y="4470350"/>
            <a:ext cx="102468" cy="81930"/>
          </a:xfrm>
          <a:prstGeom prst="rect">
            <a:avLst/>
          </a:prstGeom>
        </p:spPr>
      </p:pic>
      <p:sp>
        <p:nvSpPr>
          <p:cNvPr id="29" name="Text 22"/>
          <p:cNvSpPr/>
          <p:nvPr/>
        </p:nvSpPr>
        <p:spPr>
          <a:xfrm>
            <a:off x="673187" y="4298183"/>
            <a:ext cx="7715696" cy="200769"/>
          </a:xfrm>
          <a:prstGeom prst="rect">
            <a:avLst/>
          </a:prstGeom>
          <a:noFill/>
          <a:ln/>
        </p:spPr>
        <p:txBody>
          <a:bodyPr wrap="square" lIns="0" tIns="0" rIns="0" bIns="0" rtlCol="0" anchor="t">
            <a:normAutofit/>
          </a:bodyPr>
          <a:lstStyle/>
          <a:p>
            <a:pPr marL="0" indent="0" algn="l">
              <a:lnSpc>
                <a:spcPct val="102000"/>
              </a:lnSpc>
              <a:buNone/>
            </a:pPr>
            <a:r>
              <a:rPr lang="en-US" sz="600" dirty="0">
                <a:solidFill>
                  <a:srgbClr val="000000"/>
                </a:solidFill>
                <a:latin typeface="Open Sans" pitchFamily="34" charset="0"/>
                <a:ea typeface="Open Sans" pitchFamily="34" charset="-122"/>
                <a:cs typeface="Open Sans" pitchFamily="34" charset="-120"/>
              </a:rPr>
              <a:t>This invoice, once signed by the client, serves as a formal agreement between Juice Vibe Waskaduwa and Dulanjaya Lakruwan for the development of the complete digital platform as described in this document. Both parties are encouraged to retain a copy for their records.</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2358</Words>
  <Application>Microsoft Office PowerPoint</Application>
  <PresentationFormat>On-screen Show (16:9)</PresentationFormat>
  <Paragraphs>197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Unbounded Bold</vt:lpstr>
      <vt:lpstr>Open Sans Bold</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D U L A N J A Y A .</cp:lastModifiedBy>
  <cp:revision>2</cp:revision>
  <dcterms:created xsi:type="dcterms:W3CDTF">2026-07-15T05:30:37Z</dcterms:created>
  <dcterms:modified xsi:type="dcterms:W3CDTF">2026-07-14T20:37:29Z</dcterms:modified>
</cp:coreProperties>
</file>